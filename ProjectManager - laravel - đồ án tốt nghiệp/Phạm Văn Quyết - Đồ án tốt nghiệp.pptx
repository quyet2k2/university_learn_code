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0" r:id="rId5"/>
    <p:sldId id="284" r:id="rId6"/>
    <p:sldId id="285" r:id="rId7"/>
    <p:sldId id="286" r:id="rId8"/>
    <p:sldId id="288" r:id="rId9"/>
    <p:sldId id="290" r:id="rId10"/>
    <p:sldId id="291" r:id="rId11"/>
    <p:sldId id="289" r:id="rId12"/>
    <p:sldId id="292" r:id="rId13"/>
    <p:sldId id="295" r:id="rId14"/>
    <p:sldId id="293" r:id="rId15"/>
    <p:sldId id="294" r:id="rId16"/>
    <p:sldId id="283"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4" autoAdjust="0"/>
    <p:restoredTop sz="94660"/>
  </p:normalViewPr>
  <p:slideViewPr>
    <p:cSldViewPr snapToGrid="0">
      <p:cViewPr varScale="1">
        <p:scale>
          <a:sx n="65" d="100"/>
          <a:sy n="65" d="100"/>
        </p:scale>
        <p:origin x="87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6B3B55-9EFC-4139-AFA6-688601232D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32A3970-9E2F-44B2-BAAF-A964EB0F725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dirty="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B6B3B55-9EFC-4139-AFA6-688601232D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2A3970-9E2F-44B2-BAAF-A964EB0F725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6B6B3B55-9EFC-4139-AFA6-688601232D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2A3970-9E2F-44B2-BAAF-A964EB0F725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6B6B3B55-9EFC-4139-AFA6-688601232D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32A3970-9E2F-44B2-BAAF-A964EB0F725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B6B3B55-9EFC-4139-AFA6-688601232D4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32A3970-9E2F-44B2-BAAF-A964EB0F725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6B3B55-9EFC-4139-AFA6-688601232D4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32A3970-9E2F-44B2-BAAF-A964EB0F725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6B3B55-9EFC-4139-AFA6-688601232D4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32A3970-9E2F-44B2-BAAF-A964EB0F725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6B6B3B55-9EFC-4139-AFA6-688601232D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32A3970-9E2F-44B2-BAAF-A964EB0F725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6B6B3B55-9EFC-4139-AFA6-688601232D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2A3970-9E2F-44B2-BAAF-A964EB0F725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6B6B3B55-9EFC-4139-AFA6-688601232D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2A3970-9E2F-44B2-BAAF-A964EB0F725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6B6B3B55-9EFC-4139-AFA6-688601232D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2A3970-9E2F-44B2-BAAF-A964EB0F725A}" type="slidenum">
              <a:rPr lang="en-US" smtClean="0"/>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6B6B3B55-9EFC-4139-AFA6-688601232D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2A3970-9E2F-44B2-BAAF-A964EB0F725A}"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6B6B3B55-9EFC-4139-AFA6-688601232D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2A3970-9E2F-44B2-BAAF-A964EB0F725A}" type="slidenum">
              <a:rPr lang="en-US" smtClean="0"/>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6B6B3B55-9EFC-4139-AFA6-688601232D4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2A3970-9E2F-44B2-BAAF-A964EB0F725A}"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B6B3B55-9EFC-4139-AFA6-688601232D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2A3970-9E2F-44B2-BAAF-A964EB0F725A}"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6B6B3B55-9EFC-4139-AFA6-688601232D4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2A3970-9E2F-44B2-BAAF-A964EB0F725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defRPr>
            </a:lvl1pPr>
          </a:lstStyle>
          <a:p>
            <a:fld id="{6B6B3B55-9EFC-4139-AFA6-688601232D4D}" type="datetimeFigureOut">
              <a:rPr lang="en-US" smtClean="0"/>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latin typeface="Arial" panose="020B0604020202020204" pitchFamily="34" charset="0"/>
              </a:defRPr>
            </a:lvl1pPr>
          </a:lstStyle>
          <a:p>
            <a:fld id="{B32A3970-9E2F-44B2-BAAF-A964EB0F725A}"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Arial" panose="020B06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Arial" panose="020B0604020202020204" pitchFamily="34" charset="0"/>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Arial" panose="020B0604020202020204" pitchFamily="34" charset="0"/>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Arial" panose="020B0604020202020204" pitchFamily="34" charset="0"/>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Arial" panose="020B0604020202020204" pitchFamily="34" charset="0"/>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Arial" panose="020B0604020202020204" pitchFamily="34" charset="0"/>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822857" y="1008015"/>
            <a:ext cx="8915399" cy="915053"/>
          </a:xfrm>
        </p:spPr>
        <p:txBody>
          <a:bodyPr>
            <a:normAutofit fontScale="90000"/>
          </a:bodyPr>
          <a:lstStyle/>
          <a:p>
            <a:pPr algn="ctr">
              <a:lnSpc>
                <a:spcPct val="130000"/>
              </a:lnSpc>
              <a:spcAft>
                <a:spcPts val="800"/>
              </a:spcAft>
            </a:pPr>
            <a:r>
              <a:rPr lang="en-US" dirty="0">
                <a:solidFill>
                  <a:schemeClr val="tx1"/>
                </a:solidFill>
                <a:latin typeface="Arial" panose="020B0604020202020204" pitchFamily="34" charset="0"/>
                <a:cs typeface="Arial" panose="020B0604020202020204" pitchFamily="34" charset="0"/>
              </a:rPr>
              <a:t>Báo Cáo </a:t>
            </a:r>
            <a:r>
              <a:rPr lang="en-US" dirty="0" err="1">
                <a:solidFill>
                  <a:schemeClr val="tx1"/>
                </a:solidFill>
                <a:latin typeface="Arial" panose="020B0604020202020204" pitchFamily="34" charset="0"/>
                <a:cs typeface="Arial" panose="020B0604020202020204" pitchFamily="34" charset="0"/>
              </a:rPr>
              <a:t>Đồ</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Án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Tốt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Nghiệp</a:t>
            </a:r>
            <a:endParaRPr lang="en-US" dirty="0">
              <a:solidFill>
                <a:schemeClr val="tx1"/>
              </a:solidFill>
              <a:latin typeface="Arial" panose="020B0604020202020204" pitchFamily="34" charset="0"/>
              <a:cs typeface="Arial" panose="020B0604020202020204" pitchFamily="34" charset="0"/>
            </a:endParaRPr>
          </a:p>
        </p:txBody>
      </p:sp>
      <p:sp>
        <p:nvSpPr>
          <p:cNvPr id="6" name="Subtitle 5"/>
          <p:cNvSpPr>
            <a:spLocks noGrp="1"/>
          </p:cNvSpPr>
          <p:nvPr>
            <p:ph type="subTitle" idx="1"/>
          </p:nvPr>
        </p:nvSpPr>
        <p:spPr>
          <a:xfrm>
            <a:off x="1162050" y="2356484"/>
            <a:ext cx="10657205" cy="1340367"/>
          </a:xfrm>
        </p:spPr>
        <p:txBody>
          <a:bodyPr>
            <a:noAutofit/>
          </a:bodyPr>
          <a:lstStyle/>
          <a:p>
            <a:pPr algn="ctr">
              <a:lnSpc>
                <a:spcPct val="130000"/>
              </a:lnSpc>
              <a:spcAft>
                <a:spcPts val="800"/>
              </a:spcAft>
            </a:pPr>
            <a:r>
              <a:rPr lang="en-US" sz="2800" b="1" u="sng" dirty="0" err="1">
                <a:solidFill>
                  <a:schemeClr val="tx1"/>
                </a:solidFill>
                <a:latin typeface="Arial" panose="020B0604020202020204" pitchFamily="34" charset="0"/>
                <a:cs typeface="Arial" panose="020B0604020202020204" pitchFamily="34" charset="0"/>
              </a:rPr>
              <a:t>Đề</a:t>
            </a:r>
            <a:r>
              <a:rPr lang="en-US" sz="2800" b="1" u="sng" dirty="0">
                <a:solidFill>
                  <a:schemeClr val="tx1"/>
                </a:solidFill>
                <a:latin typeface="Arial" panose="020B0604020202020204" pitchFamily="34" charset="0"/>
                <a:cs typeface="Arial" panose="020B0604020202020204" pitchFamily="34" charset="0"/>
              </a:rPr>
              <a:t> </a:t>
            </a:r>
            <a:r>
              <a:rPr lang="en-US" sz="2800" b="1" u="sng" dirty="0" err="1">
                <a:solidFill>
                  <a:schemeClr val="tx1"/>
                </a:solidFill>
                <a:latin typeface="Arial" panose="020B0604020202020204" pitchFamily="34" charset="0"/>
                <a:cs typeface="Arial" panose="020B0604020202020204" pitchFamily="34" charset="0"/>
              </a:rPr>
              <a:t>tài</a:t>
            </a:r>
            <a:r>
              <a:rPr lang="en-US" sz="2800" b="1" dirty="0">
                <a:solidFill>
                  <a:schemeClr val="tx1"/>
                </a:solidFill>
                <a:latin typeface="Arial" panose="020B0604020202020204" pitchFamily="34" charset="0"/>
                <a:cs typeface="Arial" panose="020B0604020202020204" pitchFamily="34" charset="0"/>
              </a:rPr>
              <a:t> : </a:t>
            </a:r>
            <a:r>
              <a:rPr lang="en-US" altLang="en-US" sz="2800" b="1" dirty="0">
                <a:solidFill>
                  <a:schemeClr val="tx1"/>
                </a:solidFill>
                <a:effectLst/>
                <a:latin typeface="Arial" panose="020B0604020202020204" pitchFamily="34" charset="0"/>
                <a:cs typeface="Arial" panose="020B0604020202020204" pitchFamily="34" charset="0"/>
              </a:rPr>
              <a:t>Xây dựng website quản lý dự án cho Công ty cổ phần AHT Tech chi nhánh Thái Nguyên</a:t>
            </a:r>
            <a:endParaRPr lang="en-US" altLang="en-US" sz="2800" b="1" dirty="0">
              <a:solidFill>
                <a:schemeClr val="tx1"/>
              </a:solidFill>
              <a:effectLst/>
              <a:latin typeface="Arial" panose="020B0604020202020204" pitchFamily="34" charset="0"/>
              <a:cs typeface="Arial" panose="020B0604020202020204" pitchFamily="34" charset="0"/>
            </a:endParaRPr>
          </a:p>
        </p:txBody>
      </p:sp>
      <p:sp>
        <p:nvSpPr>
          <p:cNvPr id="8" name="TextBox 7"/>
          <p:cNvSpPr txBox="1"/>
          <p:nvPr/>
        </p:nvSpPr>
        <p:spPr>
          <a:xfrm>
            <a:off x="6327058" y="4166647"/>
            <a:ext cx="5270110" cy="1340367"/>
          </a:xfrm>
          <a:prstGeom prst="rect">
            <a:avLst/>
          </a:prstGeom>
          <a:noFill/>
        </p:spPr>
        <p:txBody>
          <a:bodyPr wrap="square" rtlCol="0">
            <a:spAutoFit/>
          </a:bodyPr>
          <a:lstStyle/>
          <a:p>
            <a:pPr>
              <a:lnSpc>
                <a:spcPct val="130000"/>
              </a:lnSpc>
              <a:spcAft>
                <a:spcPts val="800"/>
              </a:spcAft>
            </a:pPr>
            <a:r>
              <a:rPr lang="en-US" b="1" dirty="0">
                <a:latin typeface="Arial" panose="020B0604020202020204" pitchFamily="34" charset="0"/>
                <a:cs typeface="Arial" panose="020B0604020202020204" pitchFamily="34" charset="0"/>
              </a:rPr>
              <a:t>Sinh </a:t>
            </a:r>
            <a:r>
              <a:rPr lang="en-US" b="1" dirty="0" err="1">
                <a:latin typeface="Arial" panose="020B0604020202020204" pitchFamily="34" charset="0"/>
                <a:cs typeface="Arial" panose="020B0604020202020204" pitchFamily="34" charset="0"/>
              </a:rPr>
              <a:t>viên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thực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Phạm Văn Quyết</a:t>
            </a:r>
            <a:endParaRPr lang="en-US" dirty="0">
              <a:latin typeface="Arial" panose="020B0604020202020204" pitchFamily="34" charset="0"/>
              <a:cs typeface="Arial" panose="020B0604020202020204" pitchFamily="34" charset="0"/>
            </a:endParaRPr>
          </a:p>
          <a:p>
            <a:pPr>
              <a:lnSpc>
                <a:spcPct val="130000"/>
              </a:lnSpc>
              <a:spcAft>
                <a:spcPts val="800"/>
              </a:spcAft>
            </a:pPr>
            <a:r>
              <a:rPr lang="en-US" b="1" dirty="0" err="1">
                <a:latin typeface="Arial" panose="020B0604020202020204" pitchFamily="34" charset="0"/>
                <a:cs typeface="Arial" panose="020B0604020202020204" pitchFamily="34" charset="0"/>
              </a:rPr>
              <a:t>Lớp</a:t>
            </a:r>
            <a:r>
              <a:rPr lang="en-US" dirty="0">
                <a:latin typeface="Arial" panose="020B0604020202020204" pitchFamily="34" charset="0"/>
                <a:cs typeface="Arial" panose="020B0604020202020204" pitchFamily="34" charset="0"/>
              </a:rPr>
              <a:t>: CNTT K19P</a:t>
            </a:r>
            <a:endParaRPr lang="en-US" dirty="0">
              <a:latin typeface="Arial" panose="020B0604020202020204" pitchFamily="34" charset="0"/>
              <a:cs typeface="Arial" panose="020B0604020202020204" pitchFamily="34" charset="0"/>
            </a:endParaRPr>
          </a:p>
          <a:p>
            <a:pPr>
              <a:lnSpc>
                <a:spcPct val="130000"/>
              </a:lnSpc>
              <a:spcAft>
                <a:spcPts val="800"/>
              </a:spcAft>
            </a:pPr>
            <a:r>
              <a:rPr lang="en-US" b="1" dirty="0" err="1">
                <a:latin typeface="Arial" panose="020B0604020202020204" pitchFamily="34" charset="0"/>
                <a:cs typeface="Arial" panose="020B0604020202020204" pitchFamily="34" charset="0"/>
              </a:rPr>
              <a:t>Giáo</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viên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hướng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dẫn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ThS.Nguyễn</a:t>
            </a:r>
            <a:r>
              <a:rPr lang="en-US" dirty="0">
                <a:latin typeface="Arial" panose="020B0604020202020204" pitchFamily="34" charset="0"/>
                <a:cs typeface="Arial" panose="020B0604020202020204" pitchFamily="34" charset="0"/>
              </a:rPr>
              <a:t> Thu Phương</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6239" y="1068247"/>
            <a:ext cx="8911687" cy="1280890"/>
          </a:xfrm>
        </p:spPr>
        <p:txBody>
          <a:bodyPr/>
          <a:lstStyle/>
          <a:p>
            <a:r>
              <a:rPr lang="en-US" dirty="0" err="1">
                <a:latin typeface="Arial" panose="020B0604020202020204" pitchFamily="34" charset="0"/>
                <a:cs typeface="Arial" panose="020B0604020202020204" pitchFamily="34" charset="0"/>
              </a:rPr>
              <a:t>Nội</a:t>
            </a:r>
            <a:r>
              <a:rPr lang="en-US" dirty="0">
                <a:latin typeface="Arial" panose="020B0604020202020204" pitchFamily="34" charset="0"/>
                <a:cs typeface="Arial" panose="020B0604020202020204" pitchFamily="34" charset="0"/>
              </a:rPr>
              <a:t> dung :</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896239" y="2418805"/>
            <a:ext cx="8915400" cy="3777622"/>
          </a:xfrm>
        </p:spPr>
        <p:txBody>
          <a:bodyPr>
            <a:normAutofit/>
          </a:bodyPr>
          <a:lstStyle/>
          <a:p>
            <a:r>
              <a:rPr lang="en-US" sz="2400" b="1" dirty="0">
                <a:latin typeface="Arial" panose="020B0604020202020204" pitchFamily="34" charset="0"/>
                <a:cs typeface="Arial" panose="020B0604020202020204" pitchFamily="34" charset="0"/>
              </a:rPr>
              <a:t>CHƯƠNG 1</a:t>
            </a:r>
            <a:r>
              <a:rPr lang="en-US" sz="2400" dirty="0">
                <a:latin typeface="Arial" panose="020B0604020202020204" pitchFamily="34" charset="0"/>
                <a:cs typeface="Arial" panose="020B0604020202020204" pitchFamily="34" charset="0"/>
              </a:rPr>
              <a:t>. </a:t>
            </a:r>
            <a:r>
              <a:rPr lang="en-US" sz="2400" cap="all" dirty="0">
                <a:latin typeface="Arial" panose="020B0604020202020204" pitchFamily="34" charset="0"/>
                <a:cs typeface="Arial" panose="020B0604020202020204" pitchFamily="34" charset="0"/>
              </a:rPr>
              <a:t>KHẢO SÁT HỆ THỐNG</a:t>
            </a:r>
            <a:endParaRPr lang="en-US" sz="2400" dirty="0">
              <a:latin typeface="Arial" panose="020B0604020202020204" pitchFamily="34" charset="0"/>
              <a:cs typeface="Arial" panose="020B0604020202020204" pitchFamily="34" charset="0"/>
            </a:endParaRPr>
          </a:p>
          <a:p>
            <a:r>
              <a:rPr lang="fr-FR" sz="2400" b="1" dirty="0">
                <a:latin typeface="Arial" panose="020B0604020202020204" pitchFamily="34" charset="0"/>
                <a:cs typeface="Arial" panose="020B0604020202020204" pitchFamily="34" charset="0"/>
              </a:rPr>
              <a:t>CHƯƠNG 2</a:t>
            </a:r>
            <a:r>
              <a:rPr lang="fr-FR"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PHÂN TÍCH THIẾT KẾ HỆ THỐNG</a:t>
            </a:r>
            <a:endParaRPr lang="en-US" sz="2400" dirty="0">
              <a:latin typeface="Arial" panose="020B0604020202020204" pitchFamily="34" charset="0"/>
              <a:cs typeface="Arial" panose="020B0604020202020204" pitchFamily="34" charset="0"/>
            </a:endParaRPr>
          </a:p>
          <a:p>
            <a:r>
              <a:rPr lang="vi-VN" sz="2400" b="1" dirty="0">
                <a:latin typeface="Arial" panose="020B0604020202020204" pitchFamily="34" charset="0"/>
                <a:cs typeface="Arial" panose="020B0604020202020204" pitchFamily="34" charset="0"/>
              </a:rPr>
              <a:t>CHƯƠNG 3</a:t>
            </a:r>
            <a:r>
              <a:rPr lang="en-US" sz="2400" dirty="0">
                <a:latin typeface="Arial" panose="020B0604020202020204" pitchFamily="34" charset="0"/>
                <a:cs typeface="Arial" panose="020B0604020202020204" pitchFamily="34" charset="0"/>
              </a:rPr>
              <a:t>.</a:t>
            </a:r>
            <a:r>
              <a:rPr lang="vi-VN" sz="2400" dirty="0">
                <a:latin typeface="Arial" panose="020B0604020202020204" pitchFamily="34" charset="0"/>
                <a:cs typeface="Arial" panose="020B0604020202020204" pitchFamily="34" charset="0"/>
              </a:rPr>
              <a:t> XÂY DỰNG CHƯƠNG TRÌNH</a:t>
            </a:r>
            <a:endParaRPr lang="en-US" sz="2400" dirty="0">
              <a:latin typeface="Arial" panose="020B0604020202020204" pitchFamily="34" charset="0"/>
              <a:cs typeface="Arial" panose="020B0604020202020204" pitchFamily="34" charset="0"/>
            </a:endParaRPr>
          </a:p>
          <a:p>
            <a:r>
              <a:rPr lang="nb-NO" sz="2400" kern="0" dirty="0">
                <a:effectLst/>
                <a:latin typeface="Arial" panose="020B0604020202020204" pitchFamily="34" charset="0"/>
                <a:ea typeface="等线 Light" panose="02010600030101010101" pitchFamily="2" charset="-122"/>
                <a:cs typeface="Arial" panose="020B0604020202020204" pitchFamily="34" charset="0"/>
              </a:rPr>
              <a:t>KẾT LUẬN</a:t>
            </a:r>
            <a:endParaRPr lang="en-US" sz="24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6605" y="545733"/>
            <a:ext cx="8911687" cy="926406"/>
          </a:xfrm>
        </p:spPr>
        <p:txBody>
          <a:bodyPr>
            <a:normAutofit/>
          </a:bodyPr>
          <a:lstStyle/>
          <a:p>
            <a:pPr algn="ctr">
              <a:lnSpc>
                <a:spcPct val="150000"/>
              </a:lnSpc>
            </a:pPr>
            <a:r>
              <a:rPr lang="en-US" b="1" dirty="0" err="1">
                <a:latin typeface="Arial" panose="020B0604020202020204" pitchFamily="34" charset="0"/>
                <a:cs typeface="Arial" panose="020B0604020202020204" pitchFamily="34" charset="0"/>
              </a:rPr>
              <a:t>Chương</a:t>
            </a:r>
            <a:r>
              <a:rPr lang="en-US" b="1" dirty="0">
                <a:latin typeface="Arial" panose="020B0604020202020204" pitchFamily="34" charset="0"/>
                <a:cs typeface="Arial" panose="020B0604020202020204" pitchFamily="34" charset="0"/>
              </a:rPr>
              <a:t> 1. </a:t>
            </a:r>
            <a:r>
              <a:rPr lang="en-US" dirty="0" err="1">
                <a:latin typeface="Arial" panose="020B0604020202020204" pitchFamily="34" charset="0"/>
                <a:cs typeface="Arial" panose="020B0604020202020204" pitchFamily="34" charset="0"/>
              </a:rPr>
              <a:t>Khảo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sát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424305" y="2215515"/>
            <a:ext cx="10020300" cy="2426335"/>
          </a:xfrm>
        </p:spPr>
        <p:txBody>
          <a:bodyPr>
            <a:normAutofit/>
          </a:bodyPr>
          <a:lstStyle/>
          <a:p>
            <a:pPr>
              <a:lnSpc>
                <a:spcPct val="150000"/>
              </a:lnSpc>
            </a:pPr>
            <a:r>
              <a:rPr lang="vi-VN" dirty="0">
                <a:latin typeface="Arial" panose="020B0604020202020204" pitchFamily="34" charset="0"/>
                <a:cs typeface="Arial" panose="020B0604020202020204" pitchFamily="34" charset="0"/>
              </a:rPr>
              <a:t>Công ty cổ phần AHT </a:t>
            </a:r>
            <a:r>
              <a:rPr lang="vi-VN" dirty="0" err="1">
                <a:latin typeface="Arial" panose="020B0604020202020204" pitchFamily="34" charset="0"/>
                <a:cs typeface="Arial" panose="020B0604020202020204" pitchFamily="34" charset="0"/>
              </a:rPr>
              <a:t>Tech</a:t>
            </a:r>
            <a:r>
              <a:rPr lang="vi-VN" dirty="0">
                <a:latin typeface="Arial" panose="020B0604020202020204" pitchFamily="34" charset="0"/>
                <a:cs typeface="Arial" panose="020B0604020202020204" pitchFamily="34" charset="0"/>
              </a:rPr>
              <a:t> chi nhánh Thái Nguyên - chuyên kinh doanh về mảng gia công phần mềm. Hiện tại, đa số là các khách hàng đại lý bên thứ 3, ít khi là làm việc với khách hàng cuối. </a:t>
            </a:r>
            <a:endParaRPr lang="en-US" dirty="0">
              <a:latin typeface="Arial" panose="020B0604020202020204" pitchFamily="34" charset="0"/>
              <a:cs typeface="Arial" panose="020B0604020202020204" pitchFamily="34" charset="0"/>
            </a:endParaRPr>
          </a:p>
          <a:p>
            <a:pPr>
              <a:lnSpc>
                <a:spcPct val="150000"/>
              </a:lnSpc>
            </a:pP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ty </a:t>
            </a:r>
            <a:r>
              <a:rPr lang="en-US" dirty="0" err="1">
                <a:latin typeface="Arial" panose="020B0604020202020204" pitchFamily="34" charset="0"/>
                <a:cs typeface="Arial" panose="020B0604020202020204" pitchFamily="34" charset="0"/>
              </a:rPr>
              <a:t>đang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có</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khoảng</a:t>
            </a:r>
            <a:r>
              <a:rPr lang="en-US" dirty="0">
                <a:latin typeface="Arial" panose="020B0604020202020204" pitchFamily="34" charset="0"/>
                <a:cs typeface="Arial" panose="020B0604020202020204" pitchFamily="34" charset="0"/>
              </a:rPr>
              <a:t> 20 </a:t>
            </a:r>
            <a:r>
              <a:rPr lang="en-US" dirty="0" err="1">
                <a:latin typeface="Arial" panose="020B0604020202020204" pitchFamily="34" charset="0"/>
                <a:cs typeface="Arial" panose="020B0604020202020204" pitchFamily="34" charset="0"/>
              </a:rPr>
              <a:t>nhân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a:t>
            </a:r>
            <a:r>
              <a:rPr lang="en-US" dirty="0">
                <a:latin typeface="Arial" panose="020B0604020202020204" pitchFamily="34" charset="0"/>
                <a:cs typeface="Arial" panose="020B0604020202020204" pitchFamily="34" charset="0"/>
              </a:rPr>
              <a:t> o</a:t>
            </a:r>
            <a:r>
              <a:rPr lang="en-US" altLang="en-US" dirty="0">
                <a:latin typeface="Arial" panose="020B0604020202020204" pitchFamily="34" charset="0"/>
                <a:cs typeface="Arial" panose="020B0604020202020204" pitchFamily="34" charset="0"/>
              </a:rPr>
              <a:t>utsource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khoảng</a:t>
            </a:r>
            <a:r>
              <a:rPr lang="en-US" dirty="0">
                <a:latin typeface="Arial" panose="020B0604020202020204" pitchFamily="34" charset="0"/>
                <a:cs typeface="Arial" panose="020B0604020202020204" pitchFamily="34" charset="0"/>
              </a:rPr>
              <a:t> 50 - 70 </a:t>
            </a:r>
            <a:r>
              <a:rPr lang="en-US" dirty="0" err="1">
                <a:latin typeface="Arial" panose="020B0604020202020204" pitchFamily="34" charset="0"/>
                <a:cs typeface="Arial" panose="020B0604020202020204" pitchFamily="34" charset="0"/>
              </a:rPr>
              <a:t>dự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tại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đang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quản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lý</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bằng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jira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là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các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vừa</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nhỏ</a:t>
            </a:r>
            <a:r>
              <a:rPr lang="en-US"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p:txBody>
      </p:sp>
      <p:sp>
        <p:nvSpPr>
          <p:cNvPr id="4" name="TextBox 3"/>
          <p:cNvSpPr txBox="1"/>
          <p:nvPr/>
        </p:nvSpPr>
        <p:spPr>
          <a:xfrm>
            <a:off x="1320631" y="1472139"/>
            <a:ext cx="4357498" cy="456535"/>
          </a:xfrm>
          <a:prstGeom prst="rect">
            <a:avLst/>
          </a:prstGeom>
          <a:noFill/>
        </p:spPr>
        <p:txBody>
          <a:bodyPr wrap="square" rtlCol="0">
            <a:spAutoFit/>
          </a:bodyPr>
          <a:lstStyle/>
          <a:p>
            <a:pPr>
              <a:lnSpc>
                <a:spcPct val="150000"/>
              </a:lnSpc>
            </a:pPr>
            <a:r>
              <a:rPr lang="en-US" b="1" dirty="0">
                <a:effectLst/>
                <a:latin typeface="Arial" panose="020B0604020202020204" pitchFamily="34" charset="0"/>
                <a:cs typeface="Arial" panose="020B0604020202020204" pitchFamily="34" charset="0"/>
              </a:rPr>
              <a:t>1.1. </a:t>
            </a:r>
            <a:r>
              <a:rPr lang="en-US" b="1" dirty="0" err="1">
                <a:effectLst/>
                <a:latin typeface="Arial" panose="020B0604020202020204" pitchFamily="34" charset="0"/>
                <a:cs typeface="Arial" panose="020B0604020202020204" pitchFamily="34" charset="0"/>
              </a:rPr>
              <a:t>Hiện</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trạng</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hoạt</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động</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của</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công</a:t>
            </a:r>
            <a:r>
              <a:rPr lang="en-US" b="1" dirty="0">
                <a:effectLst/>
                <a:latin typeface="Arial" panose="020B0604020202020204" pitchFamily="34" charset="0"/>
                <a:cs typeface="Arial" panose="020B0604020202020204" pitchFamily="34" charset="0"/>
              </a:rPr>
              <a:t> ty</a:t>
            </a:r>
            <a:endParaRPr lang="en-US" b="1" dirty="0">
              <a:effectLst/>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1"/>
          <a:stretch>
            <a:fillRect/>
          </a:stretch>
        </p:blipFill>
        <p:spPr>
          <a:xfrm>
            <a:off x="3499380" y="4789537"/>
            <a:ext cx="5718810" cy="15227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6605" y="545733"/>
            <a:ext cx="8911687" cy="747615"/>
          </a:xfrm>
        </p:spPr>
        <p:txBody>
          <a:bodyPr>
            <a:normAutofit/>
          </a:bodyPr>
          <a:lstStyle/>
          <a:p>
            <a:pPr algn="ctr"/>
            <a:r>
              <a:rPr lang="en-US" b="1" dirty="0" err="1">
                <a:latin typeface="Arial" panose="020B0604020202020204" pitchFamily="34" charset="0"/>
                <a:cs typeface="Arial" panose="020B0604020202020204" pitchFamily="34" charset="0"/>
                <a:sym typeface="+mn-ea"/>
              </a:rPr>
              <a:t>Chương</a:t>
            </a:r>
            <a:r>
              <a:rPr lang="en-US" b="1" dirty="0">
                <a:latin typeface="Arial" panose="020B0604020202020204" pitchFamily="34" charset="0"/>
                <a:cs typeface="Arial" panose="020B0604020202020204" pitchFamily="34" charset="0"/>
                <a:sym typeface="+mn-ea"/>
              </a:rPr>
              <a:t> 1. </a:t>
            </a:r>
            <a:r>
              <a:rPr lang="en-US" dirty="0" err="1">
                <a:latin typeface="Arial" panose="020B0604020202020204" pitchFamily="34" charset="0"/>
                <a:cs typeface="Arial" panose="020B0604020202020204" pitchFamily="34" charset="0"/>
                <a:sym typeface="+mn-ea"/>
              </a:rPr>
              <a:t>Khảo</a:t>
            </a:r>
            <a:r>
              <a:rPr lang="en-US" dirty="0">
                <a:latin typeface="Arial" panose="020B0604020202020204" pitchFamily="34" charset="0"/>
                <a:cs typeface="Arial" panose="020B0604020202020204" pitchFamily="34" charset="0"/>
                <a:sym typeface="+mn-ea"/>
              </a:rPr>
              <a:t> </a:t>
            </a:r>
            <a:r>
              <a:rPr lang="en-US" dirty="0" err="1">
                <a:latin typeface="Arial" panose="020B0604020202020204" pitchFamily="34" charset="0"/>
                <a:cs typeface="Arial" panose="020B0604020202020204" pitchFamily="34" charset="0"/>
                <a:sym typeface="+mn-ea"/>
              </a:rPr>
              <a:t>sát</a:t>
            </a:r>
            <a:r>
              <a:rPr lang="en-US" dirty="0">
                <a:latin typeface="Arial" panose="020B0604020202020204" pitchFamily="34" charset="0"/>
                <a:cs typeface="Arial" panose="020B0604020202020204" pitchFamily="34" charset="0"/>
                <a:sym typeface="+mn-ea"/>
              </a:rPr>
              <a:t> </a:t>
            </a:r>
            <a:r>
              <a:rPr lang="en-US" dirty="0" err="1">
                <a:latin typeface="Arial" panose="020B0604020202020204" pitchFamily="34" charset="0"/>
                <a:cs typeface="Arial" panose="020B0604020202020204" pitchFamily="34" charset="0"/>
                <a:sym typeface="+mn-ea"/>
              </a:rPr>
              <a:t>hệ</a:t>
            </a:r>
            <a:r>
              <a:rPr lang="en-US" dirty="0">
                <a:latin typeface="Arial" panose="020B0604020202020204" pitchFamily="34" charset="0"/>
                <a:cs typeface="Arial" panose="020B0604020202020204" pitchFamily="34" charset="0"/>
                <a:sym typeface="+mn-ea"/>
              </a:rPr>
              <a:t> </a:t>
            </a:r>
            <a:r>
              <a:rPr lang="en-US" dirty="0" err="1">
                <a:latin typeface="Arial" panose="020B0604020202020204" pitchFamily="34" charset="0"/>
                <a:cs typeface="Arial" panose="020B0604020202020204" pitchFamily="34" charset="0"/>
                <a:sym typeface="+mn-ea"/>
              </a:rPr>
              <a:t>thống</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692400" y="1826623"/>
            <a:ext cx="8471126" cy="4647919"/>
          </a:xfrm>
        </p:spPr>
        <p:txBody>
          <a:bodyPr>
            <a:noAutofit/>
          </a:bodyPr>
          <a:lstStyle/>
          <a:p>
            <a:pPr marL="0" indent="0">
              <a:lnSpc>
                <a:spcPct val="150000"/>
              </a:lnSpc>
              <a:buNone/>
            </a:pPr>
            <a:r>
              <a:rPr lang="vi-VN" dirty="0">
                <a:latin typeface="Arial" panose="020B0604020202020204" pitchFamily="34" charset="0"/>
                <a:cs typeface="Arial" panose="020B0604020202020204" pitchFamily="34" charset="0"/>
              </a:rPr>
              <a:t>Hiện tại, công ty AHT </a:t>
            </a:r>
            <a:r>
              <a:rPr lang="vi-VN" dirty="0" err="1">
                <a:latin typeface="Arial" panose="020B0604020202020204" pitchFamily="34" charset="0"/>
                <a:cs typeface="Arial" panose="020B0604020202020204" pitchFamily="34" charset="0"/>
              </a:rPr>
              <a:t>Tech</a:t>
            </a:r>
            <a:r>
              <a:rPr lang="vi-VN" dirty="0">
                <a:latin typeface="Arial" panose="020B0604020202020204" pitchFamily="34" charset="0"/>
                <a:cs typeface="Arial" panose="020B0604020202020204" pitchFamily="34" charset="0"/>
              </a:rPr>
              <a:t> - chi nhánh Thái Nguyên đang sử dụng </a:t>
            </a:r>
            <a:r>
              <a:rPr lang="vi-VN" dirty="0" err="1">
                <a:latin typeface="Arial" panose="020B0604020202020204" pitchFamily="34" charset="0"/>
                <a:cs typeface="Arial" panose="020B0604020202020204" pitchFamily="34" charset="0"/>
              </a:rPr>
              <a:t>Jira</a:t>
            </a:r>
            <a:r>
              <a:rPr lang="vi-VN" dirty="0">
                <a:latin typeface="Arial" panose="020B0604020202020204" pitchFamily="34" charset="0"/>
                <a:cs typeface="Arial" panose="020B0604020202020204" pitchFamily="34" charset="0"/>
              </a:rPr>
              <a:t> để quản lý các dự án. Tuy nhiên, việc áp dụng </a:t>
            </a:r>
            <a:r>
              <a:rPr lang="vi-VN" dirty="0" err="1">
                <a:latin typeface="Arial" panose="020B0604020202020204" pitchFamily="34" charset="0"/>
                <a:cs typeface="Arial" panose="020B0604020202020204" pitchFamily="34" charset="0"/>
              </a:rPr>
              <a:t>Jira</a:t>
            </a:r>
            <a:r>
              <a:rPr lang="vi-VN" dirty="0">
                <a:latin typeface="Arial" panose="020B0604020202020204" pitchFamily="34" charset="0"/>
                <a:cs typeface="Arial" panose="020B0604020202020204" pitchFamily="34" charset="0"/>
              </a:rPr>
              <a:t> cho mô hình quản lý của công ty gặp một số vấn đề như sau:</a:t>
            </a:r>
            <a:endParaRPr lang="en-US" dirty="0">
              <a:latin typeface="Arial" panose="020B0604020202020204" pitchFamily="34" charset="0"/>
              <a:cs typeface="Arial" panose="020B0604020202020204" pitchFamily="34" charset="0"/>
            </a:endParaRPr>
          </a:p>
          <a:p>
            <a:pPr lvl="1">
              <a:lnSpc>
                <a:spcPct val="150000"/>
              </a:lnSpc>
            </a:pPr>
            <a:r>
              <a:rPr lang="en-US" sz="1800" b="1" dirty="0">
                <a:latin typeface="Arial" panose="020B0604020202020204" pitchFamily="34" charset="0"/>
                <a:cs typeface="Arial" panose="020B0604020202020204" pitchFamily="34" charset="0"/>
              </a:rPr>
              <a:t>Chi </a:t>
            </a:r>
            <a:r>
              <a:rPr lang="en-US" sz="1800" b="1" dirty="0" err="1">
                <a:latin typeface="Arial" panose="020B0604020202020204" pitchFamily="34" charset="0"/>
                <a:cs typeface="Arial" panose="020B0604020202020204" pitchFamily="34" charset="0"/>
              </a:rPr>
              <a:t>phí</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cao</a:t>
            </a:r>
            <a:endParaRPr lang="en-US" sz="1800" dirty="0">
              <a:latin typeface="Arial" panose="020B0604020202020204" pitchFamily="34" charset="0"/>
              <a:cs typeface="Arial" panose="020B0604020202020204" pitchFamily="34" charset="0"/>
            </a:endParaRPr>
          </a:p>
          <a:p>
            <a:pPr lvl="1">
              <a:lnSpc>
                <a:spcPct val="150000"/>
              </a:lnSpc>
            </a:pPr>
            <a:r>
              <a:rPr lang="en-US" sz="1800" b="1" dirty="0" err="1">
                <a:latin typeface="Arial" panose="020B0604020202020204" pitchFamily="34" charset="0"/>
                <a:cs typeface="Arial" panose="020B0604020202020204" pitchFamily="34" charset="0"/>
              </a:rPr>
              <a:t>Không</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phù</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hợp</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với</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quy</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mô</a:t>
            </a:r>
            <a:endParaRPr lang="en-US" sz="1800" dirty="0">
              <a:latin typeface="Arial" panose="020B0604020202020204" pitchFamily="34" charset="0"/>
              <a:cs typeface="Arial" panose="020B0604020202020204" pitchFamily="34" charset="0"/>
            </a:endParaRPr>
          </a:p>
          <a:p>
            <a:pPr lvl="1">
              <a:lnSpc>
                <a:spcPct val="150000"/>
              </a:lnSpc>
            </a:pPr>
            <a:r>
              <a:rPr lang="en-US" sz="1800" b="1" dirty="0" err="1">
                <a:latin typeface="Arial" panose="020B0604020202020204" pitchFamily="34" charset="0"/>
                <a:cs typeface="Arial" panose="020B0604020202020204" pitchFamily="34" charset="0"/>
              </a:rPr>
              <a:t>Khó</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theo</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dõi</a:t>
            </a:r>
            <a:r>
              <a:rPr lang="en-US" sz="1800" b="1" dirty="0">
                <a:latin typeface="Arial" panose="020B0604020202020204" pitchFamily="34" charset="0"/>
                <a:cs typeface="Arial" panose="020B0604020202020204" pitchFamily="34" charset="0"/>
              </a:rPr>
              <a:t> KPI </a:t>
            </a:r>
            <a:r>
              <a:rPr lang="en-US" sz="1800" b="1" dirty="0" err="1">
                <a:latin typeface="Arial" panose="020B0604020202020204" pitchFamily="34" charset="0"/>
                <a:cs typeface="Arial" panose="020B0604020202020204" pitchFamily="34" charset="0"/>
              </a:rPr>
              <a:t>nhân</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sự</a:t>
            </a:r>
            <a:endParaRPr lang="en-US" sz="1800" dirty="0">
              <a:latin typeface="Arial" panose="020B0604020202020204" pitchFamily="34" charset="0"/>
              <a:cs typeface="Arial" panose="020B0604020202020204" pitchFamily="34" charset="0"/>
            </a:endParaRPr>
          </a:p>
          <a:p>
            <a:pPr lvl="1">
              <a:lnSpc>
                <a:spcPct val="150000"/>
              </a:lnSpc>
            </a:pPr>
            <a:r>
              <a:rPr lang="en-US" sz="1800" b="1" dirty="0" err="1">
                <a:latin typeface="Arial" panose="020B0604020202020204" pitchFamily="34" charset="0"/>
                <a:cs typeface="Arial" panose="020B0604020202020204" pitchFamily="34" charset="0"/>
              </a:rPr>
              <a:t>Thiếu</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hệ</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thống</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báo</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cáo</a:t>
            </a:r>
            <a:r>
              <a:rPr lang="en-US" sz="1800" b="1" dirty="0">
                <a:latin typeface="Arial" panose="020B0604020202020204" pitchFamily="34" charset="0"/>
                <a:cs typeface="Arial" panose="020B0604020202020204" pitchFamily="34" charset="0"/>
              </a:rPr>
              <a:t> chi </a:t>
            </a:r>
            <a:r>
              <a:rPr lang="en-US" sz="1800" b="1" dirty="0" err="1">
                <a:latin typeface="Arial" panose="020B0604020202020204" pitchFamily="34" charset="0"/>
                <a:cs typeface="Arial" panose="020B0604020202020204" pitchFamily="34" charset="0"/>
              </a:rPr>
              <a:t>tiết</a:t>
            </a:r>
            <a:endParaRPr lang="en-US" sz="1800" b="1" dirty="0">
              <a:latin typeface="Arial" panose="020B0604020202020204" pitchFamily="34" charset="0"/>
              <a:cs typeface="Arial" panose="020B0604020202020204" pitchFamily="34" charset="0"/>
            </a:endParaRPr>
          </a:p>
          <a:p>
            <a:pPr marL="0" indent="0">
              <a:lnSpc>
                <a:spcPct val="150000"/>
              </a:lnSpc>
              <a:buNone/>
            </a:pPr>
            <a:r>
              <a:rPr lang="en-US" b="1" dirty="0">
                <a:latin typeface="Arial" panose="020B0604020202020204" pitchFamily="34" charset="0"/>
                <a:cs typeface="Arial" panose="020B0604020202020204" pitchFamily="34" charset="0"/>
              </a:rPr>
              <a:t>=&gt; </a:t>
            </a:r>
            <a:r>
              <a:rPr lang="en-US" b="1" dirty="0" err="1">
                <a:latin typeface="Arial" panose="020B0604020202020204" pitchFamily="34" charset="0"/>
                <a:cs typeface="Arial" panose="020B0604020202020204" pitchFamily="34" charset="0"/>
              </a:rPr>
              <a:t>Thực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hiện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phát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triển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một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phần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mềm</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với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mong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muốn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để</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khắc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phục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các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vấn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đề</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trên</a:t>
            </a:r>
            <a:r>
              <a:rPr lang="en-US" b="1"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lvl="1">
              <a:lnSpc>
                <a:spcPct val="150000"/>
              </a:lnSpc>
            </a:pPr>
            <a:endParaRPr lang="vi-VN" sz="1800" dirty="0">
              <a:latin typeface="Arial" panose="020B0604020202020204" pitchFamily="34" charset="0"/>
              <a:cs typeface="Arial" panose="020B0604020202020204" pitchFamily="34" charset="0"/>
            </a:endParaRPr>
          </a:p>
        </p:txBody>
      </p:sp>
      <p:sp>
        <p:nvSpPr>
          <p:cNvPr id="4" name="TextBox 3"/>
          <p:cNvSpPr txBox="1"/>
          <p:nvPr/>
        </p:nvSpPr>
        <p:spPr>
          <a:xfrm>
            <a:off x="1556604" y="1293348"/>
            <a:ext cx="6982711" cy="369332"/>
          </a:xfrm>
          <a:prstGeom prst="rect">
            <a:avLst/>
          </a:prstGeom>
          <a:noFill/>
        </p:spPr>
        <p:txBody>
          <a:bodyPr wrap="square" rtlCol="0">
            <a:spAutoFit/>
          </a:bodyPr>
          <a:lstStyle/>
          <a:p>
            <a:r>
              <a:rPr lang="en-US" b="1" dirty="0">
                <a:effectLst/>
                <a:latin typeface="Arial" panose="020B0604020202020204" pitchFamily="34" charset="0"/>
                <a:cs typeface="Arial" panose="020B0604020202020204" pitchFamily="34" charset="0"/>
              </a:rPr>
              <a:t>1.2. </a:t>
            </a:r>
            <a:r>
              <a:rPr lang="en-US" b="1" dirty="0" err="1">
                <a:effectLst/>
                <a:latin typeface="Arial" panose="020B0604020202020204" pitchFamily="34" charset="0"/>
                <a:cs typeface="Arial" panose="020B0604020202020204" pitchFamily="34" charset="0"/>
              </a:rPr>
              <a:t>Những</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vấn</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đề</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gặp</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phải</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trong</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việc</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quản</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lý</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dự</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án</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tại</a:t>
            </a:r>
            <a:r>
              <a:rPr lang="en-US" b="1" dirty="0">
                <a:effectLst/>
                <a:latin typeface="Arial" panose="020B0604020202020204" pitchFamily="34" charset="0"/>
                <a:cs typeface="Arial" panose="020B0604020202020204" pitchFamily="34" charset="0"/>
              </a:rPr>
              <a:t> AHT</a:t>
            </a:r>
            <a:endParaRPr lang="en-US" b="1" dirty="0">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87669" y="624110"/>
            <a:ext cx="4137059" cy="1280890"/>
          </a:xfrm>
        </p:spPr>
        <p:txBody>
          <a:bodyPr vert="horz" lIns="91440" tIns="45720" rIns="91440" bIns="45720" rtlCol="0">
            <a:normAutofit/>
          </a:bodyPr>
          <a:lstStyle/>
          <a:p>
            <a:r>
              <a:rPr lang="en-US" sz="3000" b="1">
                <a:latin typeface="Arial" panose="020B0604020202020204" pitchFamily="34" charset="0"/>
                <a:cs typeface="Arial" panose="020B0604020202020204" pitchFamily="34" charset="0"/>
              </a:rPr>
              <a:t>Chương 2. </a:t>
            </a:r>
            <a:r>
              <a:rPr lang="en-US" sz="3000">
                <a:latin typeface="Arial" panose="020B0604020202020204" pitchFamily="34" charset="0"/>
                <a:cs typeface="Arial" panose="020B0604020202020204" pitchFamily="34" charset="0"/>
              </a:rPr>
              <a:t>Phân tích thiết kế hệ thống</a:t>
            </a:r>
            <a:r>
              <a:rPr lang="en-US" sz="3000" b="1">
                <a:latin typeface="Arial" panose="020B0604020202020204" pitchFamily="34" charset="0"/>
                <a:cs typeface="Arial" panose="020B0604020202020204" pitchFamily="34" charset="0"/>
              </a:rPr>
              <a:t> </a:t>
            </a:r>
            <a:endParaRPr lang="en-US" sz="3000">
              <a:latin typeface="Arial" panose="020B0604020202020204" pitchFamily="34" charset="0"/>
              <a:cs typeface="Arial" panose="020B0604020202020204" pitchFamily="34" charset="0"/>
            </a:endParaRPr>
          </a:p>
        </p:txBody>
      </p:sp>
      <p:sp>
        <p:nvSpPr>
          <p:cNvPr id="10" name="Content Placeholder 9"/>
          <p:cNvSpPr>
            <a:spLocks noGrp="1"/>
          </p:cNvSpPr>
          <p:nvPr>
            <p:ph idx="1"/>
          </p:nvPr>
        </p:nvSpPr>
        <p:spPr>
          <a:xfrm>
            <a:off x="1683955" y="2133600"/>
            <a:ext cx="4281415" cy="1030514"/>
          </a:xfrm>
        </p:spPr>
        <p:txBody>
          <a:bodyPr vert="horz" lIns="91440" tIns="45720" rIns="91440" bIns="45720" rtlCol="0">
            <a:normAutofit/>
          </a:bodyPr>
          <a:lstStyle/>
          <a:p>
            <a:pPr marL="0" indent="0">
              <a:buNone/>
            </a:pPr>
            <a:r>
              <a:rPr lang="en-US" b="1" dirty="0">
                <a:solidFill>
                  <a:srgbClr val="000000"/>
                </a:solidFill>
                <a:effectLst/>
                <a:latin typeface="Arial" panose="020B0604020202020204" pitchFamily="34" charset="0"/>
                <a:cs typeface="Arial" panose="020B0604020202020204" pitchFamily="34" charset="0"/>
              </a:rPr>
              <a:t>Flowchart </a:t>
            </a:r>
            <a:r>
              <a:rPr lang="en-US" b="1" dirty="0" err="1">
                <a:solidFill>
                  <a:srgbClr val="000000"/>
                </a:solidFill>
                <a:latin typeface="Arial" panose="020B0604020202020204" pitchFamily="34" charset="0"/>
                <a:cs typeface="Arial" panose="020B0604020202020204" pitchFamily="34" charset="0"/>
              </a:rPr>
              <a:t>tổng</a:t>
            </a:r>
            <a:r>
              <a:rPr lang="en-US" b="1" dirty="0">
                <a:solidFill>
                  <a:srgbClr val="000000"/>
                </a:solidFill>
                <a:latin typeface="Arial" panose="020B0604020202020204" pitchFamily="34" charset="0"/>
                <a:cs typeface="Arial" panose="020B0604020202020204" pitchFamily="34" charset="0"/>
              </a:rPr>
              <a:t> </a:t>
            </a:r>
            <a:r>
              <a:rPr lang="en-US" b="1" dirty="0" err="1">
                <a:solidFill>
                  <a:srgbClr val="000000"/>
                </a:solidFill>
                <a:latin typeface="Arial" panose="020B0604020202020204" pitchFamily="34" charset="0"/>
                <a:cs typeface="Arial" panose="020B0604020202020204" pitchFamily="34" charset="0"/>
              </a:rPr>
              <a:t>quan</a:t>
            </a:r>
            <a:r>
              <a:rPr lang="en-US" b="1" dirty="0">
                <a:solidFill>
                  <a:srgbClr val="000000"/>
                </a:solidFill>
                <a:latin typeface="Arial" panose="020B0604020202020204" pitchFamily="34" charset="0"/>
                <a:cs typeface="Arial" panose="020B0604020202020204" pitchFamily="34" charset="0"/>
              </a:rPr>
              <a:t> </a:t>
            </a:r>
            <a:r>
              <a:rPr lang="en-US" b="1" dirty="0" err="1">
                <a:solidFill>
                  <a:srgbClr val="000000"/>
                </a:solidFill>
                <a:latin typeface="Arial" panose="020B0604020202020204" pitchFamily="34" charset="0"/>
                <a:cs typeface="Arial" panose="020B0604020202020204" pitchFamily="34" charset="0"/>
              </a:rPr>
              <a:t>q</a:t>
            </a:r>
            <a:r>
              <a:rPr lang="en-US" b="1" dirty="0" err="1">
                <a:solidFill>
                  <a:srgbClr val="000000"/>
                </a:solidFill>
                <a:effectLst/>
                <a:latin typeface="Arial" panose="020B0604020202020204" pitchFamily="34" charset="0"/>
                <a:cs typeface="Arial" panose="020B0604020202020204" pitchFamily="34" charset="0"/>
              </a:rPr>
              <a:t>uy</a:t>
            </a:r>
            <a:r>
              <a:rPr lang="en-US" b="1" dirty="0">
                <a:solidFill>
                  <a:srgbClr val="000000"/>
                </a:solidFill>
                <a:effectLst/>
                <a:latin typeface="Arial" panose="020B0604020202020204" pitchFamily="34" charset="0"/>
                <a:cs typeface="Arial" panose="020B0604020202020204" pitchFamily="34" charset="0"/>
              </a:rPr>
              <a:t> </a:t>
            </a:r>
            <a:r>
              <a:rPr lang="en-US" b="1" dirty="0" err="1">
                <a:solidFill>
                  <a:srgbClr val="000000"/>
                </a:solidFill>
                <a:effectLst/>
                <a:latin typeface="Arial" panose="020B0604020202020204" pitchFamily="34" charset="0"/>
                <a:cs typeface="Arial" panose="020B0604020202020204" pitchFamily="34" charset="0"/>
              </a:rPr>
              <a:t>trình</a:t>
            </a:r>
            <a:r>
              <a:rPr lang="en-US" b="1" dirty="0">
                <a:solidFill>
                  <a:srgbClr val="000000"/>
                </a:solidFill>
                <a:effectLst/>
                <a:latin typeface="Arial" panose="020B0604020202020204" pitchFamily="34" charset="0"/>
                <a:cs typeface="Arial" panose="020B0604020202020204" pitchFamily="34" charset="0"/>
              </a:rPr>
              <a:t> </a:t>
            </a:r>
            <a:r>
              <a:rPr lang="en-US" b="1" dirty="0" err="1">
                <a:solidFill>
                  <a:srgbClr val="000000"/>
                </a:solidFill>
                <a:effectLst/>
                <a:latin typeface="Arial" panose="020B0604020202020204" pitchFamily="34" charset="0"/>
                <a:cs typeface="Arial" panose="020B0604020202020204" pitchFamily="34" charset="0"/>
              </a:rPr>
              <a:t>dự</a:t>
            </a:r>
            <a:r>
              <a:rPr lang="en-US" b="1" dirty="0">
                <a:solidFill>
                  <a:srgbClr val="000000"/>
                </a:solidFill>
                <a:effectLst/>
                <a:latin typeface="Arial" panose="020B0604020202020204" pitchFamily="34" charset="0"/>
                <a:cs typeface="Arial" panose="020B0604020202020204" pitchFamily="34" charset="0"/>
              </a:rPr>
              <a:t> </a:t>
            </a:r>
            <a:r>
              <a:rPr lang="en-US" b="1" dirty="0" err="1">
                <a:solidFill>
                  <a:srgbClr val="000000"/>
                </a:solidFill>
                <a:effectLst/>
                <a:latin typeface="Arial" panose="020B0604020202020204" pitchFamily="34" charset="0"/>
                <a:cs typeface="Arial" panose="020B0604020202020204" pitchFamily="34" charset="0"/>
              </a:rPr>
              <a:t>án</a:t>
            </a:r>
            <a:endParaRPr lang="en-US" b="1" dirty="0">
              <a:solidFill>
                <a:srgbClr val="000000"/>
              </a:solidFill>
              <a:effectLst/>
              <a:latin typeface="Arial" panose="020B0604020202020204" pitchFamily="34" charset="0"/>
              <a:cs typeface="Arial" panose="020B0604020202020204" pitchFamily="34" charset="0"/>
            </a:endParaRPr>
          </a:p>
        </p:txBody>
      </p:sp>
      <p:pic>
        <p:nvPicPr>
          <p:cNvPr id="12" name="Picture 11" descr="IMG_256"/>
          <p:cNvPicPr>
            <a:picLocks noChangeAspect="1"/>
          </p:cNvPicPr>
          <p:nvPr/>
        </p:nvPicPr>
        <p:blipFill>
          <a:blip r:embed="rId1"/>
          <a:stretch>
            <a:fillRect/>
          </a:stretch>
        </p:blipFill>
        <p:spPr>
          <a:xfrm>
            <a:off x="6403766" y="645106"/>
            <a:ext cx="4827927" cy="5247747"/>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9" name="Rectangle 18"/>
          <p:cNvSpPr>
            <a:spLocks noGrp="1" noRot="1" noChangeAspect="1" noMove="1" noResize="1" noEditPoints="1" noAdjustHandles="1" noChangeArrowheads="1" noChangeShapeType="1" noTextEdit="1"/>
          </p:cNvSpPr>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1" name="Rectangle 20"/>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sp>
        <p:nvSpPr>
          <p:cNvPr id="14" name="Content Placeholder 9"/>
          <p:cNvSpPr>
            <a:spLocks noGrp="1"/>
          </p:cNvSpPr>
          <p:nvPr>
            <p:ph idx="1"/>
          </p:nvPr>
        </p:nvSpPr>
        <p:spPr>
          <a:xfrm>
            <a:off x="649225" y="2133600"/>
            <a:ext cx="3650278" cy="3759253"/>
          </a:xfrm>
        </p:spPr>
        <p:txBody>
          <a:bodyPr vert="horz" lIns="91440" tIns="45720" rIns="91440" bIns="45720" rtlCol="0">
            <a:normAutofit/>
          </a:bodyPr>
          <a:lstStyle/>
          <a:p>
            <a:pPr marL="0" indent="0">
              <a:buNone/>
            </a:pPr>
            <a:r>
              <a:rPr lang="en-US" b="1" dirty="0">
                <a:effectLst/>
                <a:latin typeface="Arial" panose="020B0604020202020204" pitchFamily="34" charset="0"/>
                <a:cs typeface="Arial" panose="020B0604020202020204" pitchFamily="34" charset="0"/>
              </a:rPr>
              <a:t>Các </a:t>
            </a:r>
            <a:r>
              <a:rPr lang="en-US" b="1" dirty="0" err="1">
                <a:effectLst/>
                <a:latin typeface="Arial" panose="020B0604020202020204" pitchFamily="34" charset="0"/>
                <a:cs typeface="Arial" panose="020B0604020202020204" pitchFamily="34" charset="0"/>
              </a:rPr>
              <a:t>usecase</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của</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chương</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trình</a:t>
            </a:r>
            <a:endParaRPr lang="en-US" b="1" dirty="0">
              <a:effectLst/>
              <a:latin typeface="Arial" panose="020B0604020202020204" pitchFamily="34" charset="0"/>
              <a:cs typeface="Arial" panose="020B0604020202020204" pitchFamily="34" charset="0"/>
            </a:endParaRPr>
          </a:p>
        </p:txBody>
      </p:sp>
      <p:sp>
        <p:nvSpPr>
          <p:cNvPr id="23" name="Freeform 11"/>
          <p:cNvSpPr>
            <a:spLocks noGrp="1" noRot="1" noChangeAspect="1" noMove="1" noResize="1" noEditPoints="1" noAdjustHandles="1" noChangeArrowheads="1" noChangeShapeType="1" noTextEdit="1"/>
          </p:cNvSpPr>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pic>
        <p:nvPicPr>
          <p:cNvPr id="102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53116" y="390205"/>
            <a:ext cx="4263472" cy="5924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9"/>
          <p:cNvSpPr>
            <a:spLocks noGrp="1"/>
          </p:cNvSpPr>
          <p:nvPr>
            <p:ph type="title"/>
          </p:nvPr>
        </p:nvSpPr>
        <p:spPr>
          <a:xfrm>
            <a:off x="2592925" y="624110"/>
            <a:ext cx="8911687" cy="1280890"/>
          </a:xfrm>
        </p:spPr>
        <p:txBody>
          <a:bodyPr vert="horz" lIns="91440" tIns="45720" rIns="91440" bIns="45720" rtlCol="0" anchor="t">
            <a:normAutofit/>
          </a:bodyPr>
          <a:lstStyle/>
          <a:p>
            <a:pPr marL="0" indent="0">
              <a:buNone/>
            </a:pPr>
            <a:r>
              <a:rPr lang="en-US" err="1">
                <a:effectLst/>
              </a:rPr>
              <a:t>Biểu</a:t>
            </a:r>
            <a:r>
              <a:rPr lang="en-US">
                <a:effectLst/>
              </a:rPr>
              <a:t> </a:t>
            </a:r>
            <a:r>
              <a:rPr lang="en-US" err="1">
                <a:effectLst/>
              </a:rPr>
              <a:t>đồ</a:t>
            </a:r>
            <a:r>
              <a:rPr lang="en-US">
                <a:effectLst/>
              </a:rPr>
              <a:t> </a:t>
            </a:r>
            <a:r>
              <a:rPr lang="en-US" err="1">
                <a:effectLst/>
              </a:rPr>
              <a:t>trình</a:t>
            </a:r>
            <a:r>
              <a:rPr lang="en-US">
                <a:effectLst/>
              </a:rPr>
              <a:t> </a:t>
            </a:r>
            <a:r>
              <a:rPr lang="en-US" err="1">
                <a:effectLst/>
              </a:rPr>
              <a:t>tự</a:t>
            </a:r>
            <a:r>
              <a:rPr lang="en-US">
                <a:effectLst/>
              </a:rPr>
              <a:t> - Edit Account</a:t>
            </a:r>
            <a:endParaRPr lang="en-US">
              <a:effectLst/>
            </a:endParaRPr>
          </a:p>
        </p:txBody>
      </p:sp>
      <p:pic>
        <p:nvPicPr>
          <p:cNvPr id="2050" name="Picture 2"/>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bwMode="auto">
          <a:xfrm>
            <a:off x="4014062" y="1612069"/>
            <a:ext cx="6214820" cy="4707727"/>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9" name="Rectangle 18"/>
          <p:cNvSpPr>
            <a:spLocks noGrp="1" noRot="1" noChangeAspect="1" noMove="1" noResize="1" noEditPoints="1" noAdjustHandles="1" noChangeArrowheads="1" noChangeShapeType="1" noTextEdit="1"/>
          </p:cNvSpPr>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1" name="Rectangle 20"/>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sp>
        <p:nvSpPr>
          <p:cNvPr id="14" name="Content Placeholder 9"/>
          <p:cNvSpPr>
            <a:spLocks noGrp="1"/>
          </p:cNvSpPr>
          <p:nvPr>
            <p:ph idx="1"/>
          </p:nvPr>
        </p:nvSpPr>
        <p:spPr>
          <a:xfrm>
            <a:off x="649225" y="2133600"/>
            <a:ext cx="3650278" cy="3759253"/>
          </a:xfrm>
        </p:spPr>
        <p:txBody>
          <a:bodyPr vert="horz" lIns="91440" tIns="45720" rIns="91440" bIns="45720" rtlCol="0">
            <a:normAutofit/>
          </a:bodyPr>
          <a:lstStyle/>
          <a:p>
            <a:pPr marL="0" indent="0">
              <a:buNone/>
            </a:pPr>
            <a:r>
              <a:rPr lang="en-US" b="1" dirty="0">
                <a:effectLst/>
                <a:latin typeface="Arial" panose="020B0604020202020204" pitchFamily="34" charset="0"/>
                <a:cs typeface="Arial" panose="020B0604020202020204" pitchFamily="34" charset="0"/>
              </a:rPr>
              <a:t>Entity-Relationship Diagram (ERD)</a:t>
            </a:r>
            <a:endParaRPr lang="en-US" b="1" dirty="0">
              <a:effectLst/>
              <a:latin typeface="Arial" panose="020B0604020202020204" pitchFamily="34" charset="0"/>
              <a:cs typeface="Arial" panose="020B0604020202020204" pitchFamily="34" charset="0"/>
            </a:endParaRPr>
          </a:p>
        </p:txBody>
      </p:sp>
      <p:pic>
        <p:nvPicPr>
          <p:cNvPr id="2" name="Picture 1" descr="IMG_256"/>
          <p:cNvPicPr>
            <a:picLocks noChangeAspect="1"/>
          </p:cNvPicPr>
          <p:nvPr/>
        </p:nvPicPr>
        <p:blipFill>
          <a:blip r:embed="rId1"/>
          <a:stretch>
            <a:fillRect/>
          </a:stretch>
        </p:blipFill>
        <p:spPr>
          <a:xfrm>
            <a:off x="3825783" y="1128242"/>
            <a:ext cx="8219261" cy="5054844"/>
          </a:xfrm>
          <a:prstGeom prst="rect">
            <a:avLst/>
          </a:prstGeom>
          <a:noFill/>
        </p:spPr>
      </p:pic>
      <p:sp>
        <p:nvSpPr>
          <p:cNvPr id="23" name="Freeform 11"/>
          <p:cNvSpPr>
            <a:spLocks noGrp="1" noRot="1" noChangeAspect="1" noMove="1" noResize="1" noEditPoints="1" noAdjustHandles="1" noChangeArrowheads="1" noChangeShapeType="1" noTextEdit="1"/>
          </p:cNvSpPr>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4" name="Rectangle 13"/>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sp>
        <p:nvSpPr>
          <p:cNvPr id="7" name="TextBox 6"/>
          <p:cNvSpPr txBox="1"/>
          <p:nvPr/>
        </p:nvSpPr>
        <p:spPr>
          <a:xfrm>
            <a:off x="649225" y="2133600"/>
            <a:ext cx="3650278" cy="3759253"/>
          </a:xfrm>
          <a:prstGeom prst="rect">
            <a:avLst/>
          </a:prstGeom>
        </p:spPr>
        <p:txBody>
          <a:bodyPr vert="horz" lIns="91440" tIns="45720" rIns="91440" bIns="45720" rtlCol="0">
            <a:normAutofit/>
          </a:bodyPr>
          <a:lstStyle/>
          <a:p>
            <a:pPr defTabSz="457200">
              <a:spcBef>
                <a:spcPts val="1000"/>
              </a:spcBef>
              <a:buClr>
                <a:schemeClr val="accent1"/>
              </a:buClr>
              <a:buFont typeface="Wingdings 3" panose="05040102010807070707" charset="2"/>
              <a:buChar char=""/>
            </a:pPr>
            <a:r>
              <a:rPr lang="en-US" dirty="0" err="1">
                <a:solidFill>
                  <a:schemeClr val="tx1">
                    <a:lumMod val="75000"/>
                    <a:lumOff val="25000"/>
                  </a:schemeClr>
                </a:solidFill>
                <a:effectLst/>
                <a:latin typeface="Arial" panose="020B0604020202020204" pitchFamily="34" charset="0"/>
              </a:rPr>
              <a:t>Kiến</a:t>
            </a:r>
            <a:r>
              <a:rPr lang="en-US" dirty="0">
                <a:solidFill>
                  <a:schemeClr val="tx1">
                    <a:lumMod val="75000"/>
                    <a:lumOff val="25000"/>
                  </a:schemeClr>
                </a:solidFill>
                <a:effectLst/>
                <a:latin typeface="Arial" panose="020B0604020202020204" pitchFamily="34" charset="0"/>
              </a:rPr>
              <a:t> </a:t>
            </a:r>
            <a:r>
              <a:rPr lang="en-US" dirty="0" err="1">
                <a:solidFill>
                  <a:schemeClr val="tx1">
                    <a:lumMod val="75000"/>
                    <a:lumOff val="25000"/>
                  </a:schemeClr>
                </a:solidFill>
                <a:effectLst/>
                <a:latin typeface="Arial" panose="020B0604020202020204" pitchFamily="34" charset="0"/>
              </a:rPr>
              <a:t>trúc</a:t>
            </a:r>
            <a:r>
              <a:rPr lang="en-US" dirty="0">
                <a:solidFill>
                  <a:schemeClr val="tx1">
                    <a:lumMod val="75000"/>
                    <a:lumOff val="25000"/>
                  </a:schemeClr>
                </a:solidFill>
                <a:effectLst/>
                <a:latin typeface="Arial" panose="020B0604020202020204" pitchFamily="34" charset="0"/>
              </a:rPr>
              <a:t> </a:t>
            </a:r>
            <a:r>
              <a:rPr lang="en-US" dirty="0" err="1">
                <a:solidFill>
                  <a:schemeClr val="tx1">
                    <a:lumMod val="75000"/>
                    <a:lumOff val="25000"/>
                  </a:schemeClr>
                </a:solidFill>
                <a:effectLst/>
                <a:latin typeface="Arial" panose="020B0604020202020204" pitchFamily="34" charset="0"/>
              </a:rPr>
              <a:t>tổng</a:t>
            </a:r>
            <a:r>
              <a:rPr lang="en-US" dirty="0">
                <a:solidFill>
                  <a:schemeClr val="tx1">
                    <a:lumMod val="75000"/>
                    <a:lumOff val="25000"/>
                  </a:schemeClr>
                </a:solidFill>
                <a:effectLst/>
                <a:latin typeface="Arial" panose="020B0604020202020204" pitchFamily="34" charset="0"/>
              </a:rPr>
              <a:t> </a:t>
            </a:r>
            <a:r>
              <a:rPr lang="en-US" dirty="0" err="1">
                <a:solidFill>
                  <a:schemeClr val="tx1">
                    <a:lumMod val="75000"/>
                    <a:lumOff val="25000"/>
                  </a:schemeClr>
                </a:solidFill>
                <a:effectLst/>
                <a:latin typeface="Arial" panose="020B0604020202020204" pitchFamily="34" charset="0"/>
              </a:rPr>
              <a:t>thể</a:t>
            </a:r>
            <a:r>
              <a:rPr lang="en-US" dirty="0">
                <a:solidFill>
                  <a:schemeClr val="tx1">
                    <a:lumMod val="75000"/>
                    <a:lumOff val="25000"/>
                  </a:schemeClr>
                </a:solidFill>
                <a:effectLst/>
                <a:latin typeface="Arial" panose="020B0604020202020204" pitchFamily="34" charset="0"/>
              </a:rPr>
              <a:t> </a:t>
            </a:r>
            <a:r>
              <a:rPr lang="en-US" dirty="0" err="1">
                <a:solidFill>
                  <a:schemeClr val="tx1">
                    <a:lumMod val="75000"/>
                    <a:lumOff val="25000"/>
                  </a:schemeClr>
                </a:solidFill>
                <a:effectLst/>
                <a:latin typeface="Arial" panose="020B0604020202020204" pitchFamily="34" charset="0"/>
              </a:rPr>
              <a:t>khi</a:t>
            </a:r>
            <a:r>
              <a:rPr lang="en-US" dirty="0">
                <a:solidFill>
                  <a:schemeClr val="tx1">
                    <a:lumMod val="75000"/>
                    <a:lumOff val="25000"/>
                  </a:schemeClr>
                </a:solidFill>
                <a:effectLst/>
                <a:latin typeface="Arial" panose="020B0604020202020204" pitchFamily="34" charset="0"/>
              </a:rPr>
              <a:t> </a:t>
            </a:r>
            <a:r>
              <a:rPr lang="en-US" dirty="0" err="1">
                <a:solidFill>
                  <a:schemeClr val="tx1">
                    <a:lumMod val="75000"/>
                    <a:lumOff val="25000"/>
                  </a:schemeClr>
                </a:solidFill>
                <a:effectLst/>
                <a:latin typeface="Arial" panose="020B0604020202020204" pitchFamily="34" charset="0"/>
              </a:rPr>
              <a:t>triển</a:t>
            </a:r>
            <a:r>
              <a:rPr lang="en-US" dirty="0">
                <a:solidFill>
                  <a:schemeClr val="tx1">
                    <a:lumMod val="75000"/>
                    <a:lumOff val="25000"/>
                  </a:schemeClr>
                </a:solidFill>
                <a:effectLst/>
                <a:latin typeface="Arial" panose="020B0604020202020204" pitchFamily="34" charset="0"/>
              </a:rPr>
              <a:t> </a:t>
            </a:r>
            <a:r>
              <a:rPr lang="en-US" dirty="0" err="1">
                <a:solidFill>
                  <a:schemeClr val="tx1">
                    <a:lumMod val="75000"/>
                    <a:lumOff val="25000"/>
                  </a:schemeClr>
                </a:solidFill>
                <a:effectLst/>
                <a:latin typeface="Arial" panose="020B0604020202020204" pitchFamily="34" charset="0"/>
              </a:rPr>
              <a:t>khai</a:t>
            </a:r>
            <a:r>
              <a:rPr lang="en-US" dirty="0">
                <a:solidFill>
                  <a:schemeClr val="tx1">
                    <a:lumMod val="75000"/>
                    <a:lumOff val="25000"/>
                  </a:schemeClr>
                </a:solidFill>
                <a:effectLst/>
                <a:latin typeface="Arial" panose="020B0604020202020204" pitchFamily="34" charset="0"/>
              </a:rPr>
              <a:t> </a:t>
            </a:r>
            <a:r>
              <a:rPr lang="en-US" dirty="0" err="1">
                <a:solidFill>
                  <a:schemeClr val="tx1">
                    <a:lumMod val="75000"/>
                    <a:lumOff val="25000"/>
                  </a:schemeClr>
                </a:solidFill>
                <a:effectLst/>
                <a:latin typeface="Arial" panose="020B0604020202020204" pitchFamily="34" charset="0"/>
              </a:rPr>
              <a:t>hệ</a:t>
            </a:r>
            <a:r>
              <a:rPr lang="en-US" dirty="0">
                <a:solidFill>
                  <a:schemeClr val="tx1">
                    <a:lumMod val="75000"/>
                    <a:lumOff val="25000"/>
                  </a:schemeClr>
                </a:solidFill>
                <a:effectLst/>
                <a:latin typeface="Arial" panose="020B0604020202020204" pitchFamily="34" charset="0"/>
              </a:rPr>
              <a:t> </a:t>
            </a:r>
            <a:r>
              <a:rPr lang="en-US" dirty="0" err="1">
                <a:solidFill>
                  <a:schemeClr val="tx1">
                    <a:lumMod val="75000"/>
                    <a:lumOff val="25000"/>
                  </a:schemeClr>
                </a:solidFill>
                <a:effectLst/>
                <a:latin typeface="Arial" panose="020B0604020202020204" pitchFamily="34" charset="0"/>
              </a:rPr>
              <a:t>thống</a:t>
            </a:r>
            <a:endParaRPr lang="en-US" dirty="0">
              <a:solidFill>
                <a:schemeClr val="tx1">
                  <a:lumMod val="75000"/>
                  <a:lumOff val="25000"/>
                </a:schemeClr>
              </a:solidFill>
              <a:effectLst/>
              <a:latin typeface="Arial" panose="020B0604020202020204" pitchFamily="34" charset="0"/>
            </a:endParaRPr>
          </a:p>
          <a:p>
            <a:pPr defTabSz="457200">
              <a:spcBef>
                <a:spcPts val="1000"/>
              </a:spcBef>
              <a:buClr>
                <a:schemeClr val="accent1"/>
              </a:buClr>
              <a:buFont typeface="Wingdings 3" panose="05040102010807070707" charset="2"/>
              <a:buChar char=""/>
            </a:pPr>
            <a:endParaRPr lang="en-US" dirty="0">
              <a:solidFill>
                <a:schemeClr val="tx1">
                  <a:lumMod val="75000"/>
                  <a:lumOff val="25000"/>
                </a:schemeClr>
              </a:solidFill>
              <a:latin typeface="Arial" panose="020B0604020202020204" pitchFamily="34" charset="0"/>
            </a:endParaRPr>
          </a:p>
        </p:txBody>
      </p:sp>
      <p:pic>
        <p:nvPicPr>
          <p:cNvPr id="5" name="Picture 4" descr="A computer screen shot of a computer&#10;&#10;AI-generated content may be incorrect."/>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a:xfrm>
            <a:off x="4619543" y="1536765"/>
            <a:ext cx="6953577" cy="3459402"/>
          </a:xfrm>
          <a:prstGeom prst="rect">
            <a:avLst/>
          </a:prstGeom>
          <a:noFill/>
        </p:spPr>
      </p:pic>
      <p:sp>
        <p:nvSpPr>
          <p:cNvPr id="16" name="Freeform 11"/>
          <p:cNvSpPr>
            <a:spLocks noGrp="1" noRot="1" noChangeAspect="1" noMove="1" noResize="1" noEditPoints="1" noAdjustHandles="1" noChangeArrowheads="1" noChangeShapeType="1" noTextEdit="1"/>
          </p:cNvSpPr>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5" name="Rectangle 14"/>
          <p:cNvSpPr>
            <a:spLocks noGrp="1" noRot="1" noChangeAspect="1" noMove="1" noResize="1" noEditPoints="1" noAdjustHandles="1" noChangeArrowheads="1" noChangeShapeType="1" noTextEdit="1"/>
          </p:cNvSpPr>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 name="Title 1"/>
          <p:cNvSpPr>
            <a:spLocks noGrp="1"/>
          </p:cNvSpPr>
          <p:nvPr>
            <p:ph type="title"/>
          </p:nvPr>
        </p:nvSpPr>
        <p:spPr>
          <a:xfrm>
            <a:off x="649224" y="645106"/>
            <a:ext cx="3650279" cy="1259894"/>
          </a:xfrm>
        </p:spPr>
        <p:txBody>
          <a:bodyPr vert="horz" lIns="91440" tIns="45720" rIns="91440" bIns="45720" rtlCol="0">
            <a:normAutofit/>
          </a:bodyPr>
          <a:lstStyle/>
          <a:p>
            <a:pPr>
              <a:lnSpc>
                <a:spcPct val="90000"/>
              </a:lnSpc>
            </a:pPr>
            <a:r>
              <a:rPr lang="en-US" sz="3100" b="1" err="1">
                <a:latin typeface="Arial" panose="020B0604020202020204" pitchFamily="34" charset="0"/>
                <a:cs typeface="Arial" panose="020B0604020202020204" pitchFamily="34" charset="0"/>
              </a:rPr>
              <a:t>Chương</a:t>
            </a:r>
            <a:r>
              <a:rPr lang="en-US" sz="3100" b="1">
                <a:latin typeface="Arial" panose="020B0604020202020204" pitchFamily="34" charset="0"/>
                <a:cs typeface="Arial" panose="020B0604020202020204" pitchFamily="34" charset="0"/>
              </a:rPr>
              <a:t> 3. </a:t>
            </a:r>
            <a:r>
              <a:rPr lang="vi-VN" sz="3100">
                <a:latin typeface="Arial" panose="020B0604020202020204" pitchFamily="34" charset="0"/>
                <a:cs typeface="Arial" panose="020B0604020202020204" pitchFamily="34" charset="0"/>
              </a:rPr>
              <a:t>Xây </a:t>
            </a:r>
            <a:r>
              <a:rPr lang="en-US" altLang="vi-VN" sz="3100">
                <a:latin typeface="Arial" panose="020B0604020202020204" pitchFamily="34" charset="0"/>
                <a:cs typeface="Arial" panose="020B0604020202020204" pitchFamily="34" charset="0"/>
              </a:rPr>
              <a:t>d</a:t>
            </a:r>
            <a:r>
              <a:rPr lang="vi-VN" sz="3100">
                <a:latin typeface="Arial" panose="020B0604020202020204" pitchFamily="34" charset="0"/>
                <a:cs typeface="Arial" panose="020B0604020202020204" pitchFamily="34" charset="0"/>
              </a:rPr>
              <a:t>ựng </a:t>
            </a:r>
            <a:r>
              <a:rPr lang="en-US" altLang="vi-VN" sz="3100">
                <a:latin typeface="Arial" panose="020B0604020202020204" pitchFamily="34" charset="0"/>
                <a:cs typeface="Arial" panose="020B0604020202020204" pitchFamily="34" charset="0"/>
              </a:rPr>
              <a:t>c</a:t>
            </a:r>
            <a:r>
              <a:rPr lang="vi-VN" sz="3100">
                <a:latin typeface="Arial" panose="020B0604020202020204" pitchFamily="34" charset="0"/>
                <a:cs typeface="Arial" panose="020B0604020202020204" pitchFamily="34" charset="0"/>
              </a:rPr>
              <a:t>hương </a:t>
            </a:r>
            <a:r>
              <a:rPr lang="en-US" altLang="vi-VN" sz="3100">
                <a:latin typeface="Arial" panose="020B0604020202020204" pitchFamily="34" charset="0"/>
                <a:cs typeface="Arial" panose="020B0604020202020204" pitchFamily="34" charset="0"/>
              </a:rPr>
              <a:t>t</a:t>
            </a:r>
            <a:r>
              <a:rPr lang="vi-VN" sz="3100">
                <a:latin typeface="Arial" panose="020B0604020202020204" pitchFamily="34" charset="0"/>
                <a:cs typeface="Arial" panose="020B0604020202020204" pitchFamily="34" charset="0"/>
              </a:rPr>
              <a:t>rình</a:t>
            </a:r>
            <a:endParaRPr lang="en-US" sz="3100">
              <a:latin typeface="Arial" panose="020B0604020202020204" pitchFamily="34" charset="0"/>
              <a:cs typeface="Arial" panose="020B0604020202020204" pitchFamily="34" charset="0"/>
            </a:endParaRPr>
          </a:p>
        </p:txBody>
      </p:sp>
      <p:sp>
        <p:nvSpPr>
          <p:cNvPr id="17" name="Rectangle 16"/>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sp>
        <p:nvSpPr>
          <p:cNvPr id="10" name="Content Placeholder 9"/>
          <p:cNvSpPr>
            <a:spLocks noGrp="1"/>
          </p:cNvSpPr>
          <p:nvPr>
            <p:ph idx="1"/>
          </p:nvPr>
        </p:nvSpPr>
        <p:spPr>
          <a:xfrm>
            <a:off x="649225" y="2133600"/>
            <a:ext cx="3650278" cy="3759253"/>
          </a:xfrm>
        </p:spPr>
        <p:txBody>
          <a:bodyPr vert="horz" lIns="91440" tIns="45720" rIns="91440" bIns="45720" rtlCol="0">
            <a:normAutofit/>
          </a:bodyPr>
          <a:lstStyle/>
          <a:p>
            <a:pPr marL="0" indent="0">
              <a:buNone/>
            </a:pPr>
            <a:r>
              <a:rPr lang="vi-VN" b="1">
                <a:effectLst/>
                <a:latin typeface="Arial" panose="020B0604020202020204" pitchFamily="34" charset="0"/>
                <a:cs typeface="Arial" panose="020B0604020202020204" pitchFamily="34" charset="0"/>
              </a:rPr>
              <a:t>Cơ sở dữ liệu hệ thống</a:t>
            </a:r>
            <a:endParaRPr lang="en-US" b="1">
              <a:effectLst/>
              <a:latin typeface="Arial" panose="020B0604020202020204" pitchFamily="34" charset="0"/>
              <a:cs typeface="Arial" panose="020B0604020202020204" pitchFamily="34" charset="0"/>
            </a:endParaRPr>
          </a:p>
        </p:txBody>
      </p:sp>
      <p:pic>
        <p:nvPicPr>
          <p:cNvPr id="3" name="Picture 2" descr="{690AC299-A207-4BAB-8AED-C976171DB223}"/>
          <p:cNvPicPr>
            <a:picLocks noChangeAspect="1"/>
          </p:cNvPicPr>
          <p:nvPr/>
        </p:nvPicPr>
        <p:blipFill>
          <a:blip r:embed="rId1"/>
          <a:stretch>
            <a:fillRect/>
          </a:stretch>
        </p:blipFill>
        <p:spPr>
          <a:xfrm>
            <a:off x="4619543" y="1067398"/>
            <a:ext cx="6953577" cy="4398136"/>
          </a:xfrm>
          <a:prstGeom prst="rect">
            <a:avLst/>
          </a:prstGeom>
        </p:spPr>
      </p:pic>
      <p:sp>
        <p:nvSpPr>
          <p:cNvPr id="19" name="Freeform 11"/>
          <p:cNvSpPr>
            <a:spLocks noGrp="1" noRot="1" noChangeAspect="1" noMove="1" noResize="1" noEditPoints="1" noAdjustHandles="1" noChangeArrowheads="1" noChangeShapeType="1" noTextEdit="1"/>
          </p:cNvSpPr>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37" name="Rectangle 36"/>
          <p:cNvSpPr>
            <a:spLocks noGrp="1" noRot="1" noChangeAspect="1" noMove="1" noResize="1" noEditPoints="1" noAdjustHandles="1" noChangeArrowheads="1" noChangeShapeType="1" noTextEdit="1"/>
          </p:cNvSpPr>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9" name="Rectangle 38"/>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sp>
        <p:nvSpPr>
          <p:cNvPr id="14" name="Content Placeholder 9"/>
          <p:cNvSpPr>
            <a:spLocks noGrp="1"/>
          </p:cNvSpPr>
          <p:nvPr>
            <p:ph idx="1"/>
          </p:nvPr>
        </p:nvSpPr>
        <p:spPr>
          <a:xfrm>
            <a:off x="649225" y="2133600"/>
            <a:ext cx="3650278" cy="3759253"/>
          </a:xfrm>
        </p:spPr>
        <p:txBody>
          <a:bodyPr vert="horz" lIns="91440" tIns="45720" rIns="91440" bIns="45720" rtlCol="0">
            <a:normAutofit/>
          </a:bodyPr>
          <a:lstStyle/>
          <a:p>
            <a:pPr marL="0" indent="0">
              <a:buNone/>
            </a:pPr>
            <a:r>
              <a:rPr lang="en-US" b="1" dirty="0">
                <a:latin typeface="Arial" panose="020B0604020202020204" pitchFamily="34" charset="0"/>
                <a:cs typeface="Arial" panose="020B0604020202020204" pitchFamily="34" charset="0"/>
              </a:rPr>
              <a:t>Giao </a:t>
            </a:r>
            <a:r>
              <a:rPr lang="en-US" b="1" dirty="0" err="1">
                <a:latin typeface="Arial" panose="020B0604020202020204" pitchFamily="34" charset="0"/>
                <a:cs typeface="Arial" panose="020B0604020202020204" pitchFamily="34" charset="0"/>
              </a:rPr>
              <a:t>diện</a:t>
            </a:r>
            <a:r>
              <a:rPr lang="en-US" b="1" dirty="0">
                <a:latin typeface="Arial" panose="020B0604020202020204" pitchFamily="34" charset="0"/>
                <a:cs typeface="Arial" panose="020B0604020202020204" pitchFamily="34" charset="0"/>
              </a:rPr>
              <a:t> edit task</a:t>
            </a:r>
            <a:endParaRPr lang="en-US" b="1" dirty="0">
              <a:effectLst/>
              <a:latin typeface="Arial" panose="020B0604020202020204" pitchFamily="34" charset="0"/>
              <a:cs typeface="Arial" panose="020B0604020202020204" pitchFamily="34" charset="0"/>
            </a:endParaRPr>
          </a:p>
        </p:txBody>
      </p:sp>
      <p:pic>
        <p:nvPicPr>
          <p:cNvPr id="5" name="Picture 4"/>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a:xfrm>
            <a:off x="4619543" y="1493305"/>
            <a:ext cx="6953577" cy="3546323"/>
          </a:xfrm>
          <a:prstGeom prst="rect">
            <a:avLst/>
          </a:prstGeom>
          <a:noFill/>
        </p:spPr>
      </p:pic>
      <p:sp>
        <p:nvSpPr>
          <p:cNvPr id="41" name="Freeform 11"/>
          <p:cNvSpPr>
            <a:spLocks noGrp="1" noRot="1" noChangeAspect="1" noMove="1" noResize="1" noEditPoints="1" noAdjustHandles="1" noChangeArrowheads="1" noChangeShapeType="1" noTextEdit="1"/>
          </p:cNvSpPr>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9" name="Rectangle 18"/>
          <p:cNvSpPr>
            <a:spLocks noGrp="1" noRot="1" noChangeAspect="1" noMove="1" noResize="1" noEditPoints="1" noAdjustHandles="1" noChangeArrowheads="1" noChangeShapeType="1" noTextEdit="1"/>
          </p:cNvSpPr>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1" name="Rectangle 20"/>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sp>
        <p:nvSpPr>
          <p:cNvPr id="14" name="Content Placeholder 9"/>
          <p:cNvSpPr>
            <a:spLocks noGrp="1"/>
          </p:cNvSpPr>
          <p:nvPr>
            <p:ph idx="1"/>
          </p:nvPr>
        </p:nvSpPr>
        <p:spPr>
          <a:xfrm>
            <a:off x="649225" y="2133600"/>
            <a:ext cx="3650278" cy="3759253"/>
          </a:xfrm>
        </p:spPr>
        <p:txBody>
          <a:bodyPr vert="horz" lIns="91440" tIns="45720" rIns="91440" bIns="45720" rtlCol="0">
            <a:normAutofit/>
          </a:bodyPr>
          <a:lstStyle/>
          <a:p>
            <a:pPr marL="0" indent="0">
              <a:buNone/>
            </a:pPr>
            <a:r>
              <a:rPr lang="en-US" b="1" dirty="0">
                <a:latin typeface="Arial" panose="020B0604020202020204" pitchFamily="34" charset="0"/>
                <a:cs typeface="Arial" panose="020B0604020202020204" pitchFamily="34" charset="0"/>
              </a:rPr>
              <a:t>Email </a:t>
            </a:r>
            <a:r>
              <a:rPr lang="en-US" b="1" dirty="0" err="1">
                <a:latin typeface="Arial" panose="020B0604020202020204" pitchFamily="34" charset="0"/>
                <a:cs typeface="Arial" panose="020B0604020202020204" pitchFamily="34" charset="0"/>
              </a:rPr>
              <a:t>gửi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về</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khi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người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dùng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được</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phân</a:t>
            </a:r>
            <a:r>
              <a:rPr lang="en-US" b="1" dirty="0">
                <a:latin typeface="Arial" panose="020B0604020202020204" pitchFamily="34" charset="0"/>
                <a:cs typeface="Arial" panose="020B0604020202020204" pitchFamily="34" charset="0"/>
              </a:rPr>
              <a:t> task</a:t>
            </a:r>
            <a:endParaRPr lang="en-US" b="1" dirty="0">
              <a:effectLst/>
              <a:latin typeface="Arial" panose="020B0604020202020204" pitchFamily="34" charset="0"/>
              <a:cs typeface="Arial" panose="020B0604020202020204" pitchFamily="34" charset="0"/>
            </a:endParaRPr>
          </a:p>
        </p:txBody>
      </p:sp>
      <p:pic>
        <p:nvPicPr>
          <p:cNvPr id="4" name="Picture 3" descr="A screenshot of a computer&#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19543" y="954402"/>
            <a:ext cx="6953577" cy="4624129"/>
          </a:xfrm>
          <a:prstGeom prst="rect">
            <a:avLst/>
          </a:prstGeom>
        </p:spPr>
      </p:pic>
      <p:sp>
        <p:nvSpPr>
          <p:cNvPr id="23" name="Freeform 11"/>
          <p:cNvSpPr>
            <a:spLocks noGrp="1" noRot="1" noChangeAspect="1" noMove="1" noResize="1" noEditPoints="1" noAdjustHandles="1" noChangeArrowheads="1" noChangeShapeType="1" noTextEdit="1"/>
          </p:cNvSpPr>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4" name="Content Placeholder 9"/>
          <p:cNvSpPr>
            <a:spLocks noGrp="1"/>
          </p:cNvSpPr>
          <p:nvPr>
            <p:ph idx="1"/>
          </p:nvPr>
        </p:nvSpPr>
        <p:spPr>
          <a:xfrm>
            <a:off x="1683956" y="2133600"/>
            <a:ext cx="4140772" cy="3777622"/>
          </a:xfrm>
        </p:spPr>
        <p:txBody>
          <a:bodyPr vert="horz" lIns="91440" tIns="45720" rIns="91440" bIns="45720" rtlCol="0">
            <a:normAutofit/>
          </a:bodyPr>
          <a:lstStyle/>
          <a:p>
            <a:pPr marL="0" indent="0">
              <a:buNone/>
            </a:pPr>
            <a:r>
              <a:rPr lang="en-US" b="1">
                <a:solidFill>
                  <a:srgbClr val="000000"/>
                </a:solidFill>
                <a:latin typeface="Arial" panose="020B0604020202020204" pitchFamily="34" charset="0"/>
                <a:cs typeface="Arial" panose="020B0604020202020204" pitchFamily="34" charset="0"/>
              </a:rPr>
              <a:t>Giao diện manage kpi reports</a:t>
            </a:r>
            <a:endParaRPr lang="en-US" b="1">
              <a:solidFill>
                <a:srgbClr val="000000"/>
              </a:solidFill>
              <a:effectLst/>
              <a:latin typeface="Arial" panose="020B0604020202020204" pitchFamily="34" charset="0"/>
              <a:cs typeface="Arial" panose="020B0604020202020204" pitchFamily="34" charset="0"/>
            </a:endParaRPr>
          </a:p>
        </p:txBody>
      </p:sp>
      <p:pic>
        <p:nvPicPr>
          <p:cNvPr id="2" name="Picture 1" descr="A screenshot of a computer&#10;&#10;AI-generated content may be incorrect."/>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a:xfrm>
            <a:off x="6091916" y="1354095"/>
            <a:ext cx="5451627" cy="3829768"/>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9" name="Rectangle 18"/>
          <p:cNvSpPr>
            <a:spLocks noGrp="1" noRot="1" noChangeAspect="1" noMove="1" noResize="1" noEditPoints="1" noAdjustHandles="1" noChangeArrowheads="1" noChangeShapeType="1" noTextEdit="1"/>
          </p:cNvSpPr>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1" name="Rectangle 20"/>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sp>
        <p:nvSpPr>
          <p:cNvPr id="14" name="Content Placeholder 9"/>
          <p:cNvSpPr>
            <a:spLocks noGrp="1"/>
          </p:cNvSpPr>
          <p:nvPr>
            <p:ph idx="1"/>
          </p:nvPr>
        </p:nvSpPr>
        <p:spPr>
          <a:xfrm>
            <a:off x="649225" y="2133600"/>
            <a:ext cx="3650278" cy="3759253"/>
          </a:xfrm>
        </p:spPr>
        <p:txBody>
          <a:bodyPr vert="horz" lIns="91440" tIns="45720" rIns="91440" bIns="45720" rtlCol="0">
            <a:normAutofit/>
          </a:bodyPr>
          <a:lstStyle/>
          <a:p>
            <a:pPr marL="0" indent="0">
              <a:buNone/>
            </a:pPr>
            <a:r>
              <a:rPr lang="en-US" b="1" dirty="0">
                <a:latin typeface="Arial" panose="020B0604020202020204" pitchFamily="34" charset="0"/>
                <a:cs typeface="Arial" panose="020B0604020202020204" pitchFamily="34" charset="0"/>
              </a:rPr>
              <a:t>Giao </a:t>
            </a:r>
            <a:r>
              <a:rPr lang="en-US" b="1" dirty="0" err="1">
                <a:latin typeface="Arial" panose="020B0604020202020204" pitchFamily="34" charset="0"/>
                <a:cs typeface="Arial" panose="020B0604020202020204" pitchFamily="34" charset="0"/>
              </a:rPr>
              <a:t>diện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kpi</a:t>
            </a:r>
            <a:r>
              <a:rPr lang="en-US" b="1" dirty="0">
                <a:latin typeface="Arial" panose="020B0604020202020204" pitchFamily="34" charset="0"/>
                <a:cs typeface="Arial" panose="020B0604020202020204" pitchFamily="34" charset="0"/>
              </a:rPr>
              <a:t> details</a:t>
            </a:r>
            <a:endParaRPr lang="en-US" b="1" dirty="0">
              <a:effectLst/>
              <a:latin typeface="Arial" panose="020B0604020202020204" pitchFamily="34" charset="0"/>
              <a:cs typeface="Arial" panose="020B0604020202020204" pitchFamily="34" charset="0"/>
            </a:endParaRPr>
          </a:p>
        </p:txBody>
      </p:sp>
      <p:pic>
        <p:nvPicPr>
          <p:cNvPr id="2" name="Picture 1" descr="A screenshot of a computer&#10;&#10;AI-generated content may be incorrect."/>
          <p:cNvPicPr>
            <a:picLocks noChangeAspect="1" noChangeArrowheads="1"/>
          </p:cNvPicPr>
          <p:nvPr/>
        </p:nvPicPr>
        <p:blipFill>
          <a:blip r:embed="rId1" cstate="print">
            <a:extLst>
              <a:ext uri="{28A0092B-C50C-407E-A947-70E740481C1C}">
                <a14:useLocalDpi xmlns:a14="http://schemas.microsoft.com/office/drawing/2010/main" val="0"/>
              </a:ext>
            </a:extLst>
          </a:blip>
          <a:stretch>
            <a:fillRect/>
          </a:stretch>
        </p:blipFill>
        <p:spPr>
          <a:xfrm>
            <a:off x="4619543" y="806639"/>
            <a:ext cx="6953577" cy="4919655"/>
          </a:xfrm>
          <a:prstGeom prst="rect">
            <a:avLst/>
          </a:prstGeom>
          <a:noFill/>
        </p:spPr>
      </p:pic>
      <p:sp>
        <p:nvSpPr>
          <p:cNvPr id="23" name="Freeform 11"/>
          <p:cNvSpPr>
            <a:spLocks noGrp="1" noRot="1" noChangeAspect="1" noMove="1" noResize="1" noEditPoints="1" noAdjustHandles="1" noChangeArrowheads="1" noChangeShapeType="1" noTextEdit="1"/>
          </p:cNvSpPr>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 name="Tiêu đề 1"/>
          <p:cNvSpPr>
            <a:spLocks noGrp="1"/>
          </p:cNvSpPr>
          <p:nvPr>
            <p:ph type="title"/>
          </p:nvPr>
        </p:nvSpPr>
        <p:spPr>
          <a:xfrm>
            <a:off x="3373062" y="624110"/>
            <a:ext cx="8131550" cy="1280890"/>
          </a:xfrm>
        </p:spPr>
        <p:txBody>
          <a:bodyPr>
            <a:normAutofit/>
          </a:bodyPr>
          <a:lstStyle/>
          <a:p>
            <a:r>
              <a:rPr lang="nb-NO" b="1" kern="0">
                <a:effectLst/>
                <a:latin typeface="Arial" panose="020B0604020202020204" pitchFamily="34" charset="0"/>
                <a:ea typeface="等线 Light" panose="02010600030101010101" pitchFamily="2" charset="-122"/>
                <a:cs typeface="Arial" panose="020B0604020202020204" pitchFamily="34" charset="0"/>
              </a:rPr>
              <a:t>KẾT LUẬN</a:t>
            </a:r>
            <a:endParaRPr lang="en-US">
              <a:latin typeface="Arial" panose="020B0604020202020204" pitchFamily="34" charset="0"/>
              <a:cs typeface="Arial" panose="020B0604020202020204" pitchFamily="34" charset="0"/>
            </a:endParaRPr>
          </a:p>
        </p:txBody>
      </p:sp>
      <p:sp>
        <p:nvSpPr>
          <p:cNvPr id="10" name="Rectangle 9"/>
          <p:cNvSpPr>
            <a:spLocks noGrp="1" noRot="1" noChangeAspect="1" noMove="1" noResize="1" noEditPoints="1" noAdjustHandles="1" noChangeArrowheads="1" noChangeShapeType="1" noTextEdit="1"/>
          </p:cNvSpPr>
          <p:nvPr/>
        </p:nvSpPr>
        <p:spPr>
          <a:xfrm>
            <a:off x="1" y="0"/>
            <a:ext cx="285151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12" name="Group 11"/>
          <p:cNvGrpSpPr>
            <a:grpSpLocks noGrp="1" noRot="1" noChangeAspect="1" noMove="1" noResize="1" noUngrp="1"/>
          </p:cNvGrpSpPr>
          <p:nvPr/>
        </p:nvGrpSpPr>
        <p:grpSpPr>
          <a:xfrm>
            <a:off x="9" y="228600"/>
            <a:ext cx="2851523" cy="6638625"/>
            <a:chOff x="2487613" y="285750"/>
            <a:chExt cx="2428875" cy="5654676"/>
          </a:xfrm>
          <a:solidFill>
            <a:schemeClr val="tx2">
              <a:lumMod val="60000"/>
              <a:lumOff val="40000"/>
              <a:alpha val="40000"/>
            </a:schemeClr>
          </a:solidFill>
        </p:grpSpPr>
        <p:sp>
          <p:nvSpPr>
            <p:cNvPr id="13"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dirty="0">
                <a:latin typeface="Arial" panose="020B0604020202020204" pitchFamily="34" charset="0"/>
              </a:endParaRPr>
            </a:p>
          </p:txBody>
        </p:sp>
        <p:sp>
          <p:nvSpPr>
            <p:cNvPr id="14"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dirty="0">
                <a:latin typeface="Arial" panose="020B0604020202020204" pitchFamily="34" charset="0"/>
              </a:endParaRPr>
            </a:p>
          </p:txBody>
        </p:sp>
        <p:sp>
          <p:nvSpPr>
            <p:cNvPr id="15"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dirty="0">
                <a:latin typeface="Arial" panose="020B0604020202020204" pitchFamily="34" charset="0"/>
              </a:endParaRPr>
            </a:p>
          </p:txBody>
        </p:sp>
        <p:sp>
          <p:nvSpPr>
            <p:cNvPr id="16"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dirty="0">
                <a:latin typeface="Arial" panose="020B0604020202020204" pitchFamily="34" charset="0"/>
              </a:endParaRPr>
            </a:p>
          </p:txBody>
        </p:sp>
        <p:sp>
          <p:nvSpPr>
            <p:cNvPr id="17"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dirty="0">
                <a:latin typeface="Arial" panose="020B0604020202020204" pitchFamily="34" charset="0"/>
              </a:endParaRPr>
            </a:p>
          </p:txBody>
        </p:sp>
        <p:sp>
          <p:nvSpPr>
            <p:cNvPr id="18"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dirty="0">
                <a:latin typeface="Arial" panose="020B0604020202020204" pitchFamily="34" charset="0"/>
              </a:endParaRPr>
            </a:p>
          </p:txBody>
        </p:sp>
        <p:sp>
          <p:nvSpPr>
            <p:cNvPr id="19"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dirty="0">
                <a:latin typeface="Arial" panose="020B0604020202020204" pitchFamily="34" charset="0"/>
              </a:endParaRPr>
            </a:p>
          </p:txBody>
        </p:sp>
        <p:sp>
          <p:nvSpPr>
            <p:cNvPr id="20"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dirty="0">
                <a:latin typeface="Arial" panose="020B0604020202020204" pitchFamily="34" charset="0"/>
              </a:endParaRPr>
            </a:p>
          </p:txBody>
        </p:sp>
        <p:sp>
          <p:nvSpPr>
            <p:cNvPr id="21"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dirty="0">
                <a:latin typeface="Arial" panose="020B0604020202020204" pitchFamily="34" charset="0"/>
              </a:endParaRPr>
            </a:p>
          </p:txBody>
        </p:sp>
        <p:sp>
          <p:nvSpPr>
            <p:cNvPr id="22"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dirty="0">
                <a:latin typeface="Arial" panose="020B0604020202020204" pitchFamily="34" charset="0"/>
              </a:endParaRPr>
            </a:p>
          </p:txBody>
        </p:sp>
        <p:sp>
          <p:nvSpPr>
            <p:cNvPr id="23"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dirty="0">
                <a:latin typeface="Arial" panose="020B0604020202020204" pitchFamily="34" charset="0"/>
              </a:endParaRPr>
            </a:p>
          </p:txBody>
        </p:sp>
        <p:sp>
          <p:nvSpPr>
            <p:cNvPr id="24"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dirty="0">
                <a:latin typeface="Arial" panose="020B0604020202020204" pitchFamily="34" charset="0"/>
              </a:endParaRPr>
            </a:p>
          </p:txBody>
        </p:sp>
      </p:grpSp>
      <p:grpSp>
        <p:nvGrpSpPr>
          <p:cNvPr id="26" name="Group 25"/>
          <p:cNvGrpSpPr>
            <a:grpSpLocks noGrp="1" noRot="1" noChangeAspect="1" noMove="1" noResize="1" noUngrp="1"/>
          </p:cNvGrpSpPr>
          <p:nvPr/>
        </p:nvGrpSpPr>
        <p:grpSpPr>
          <a:xfrm>
            <a:off x="27224" y="-786"/>
            <a:ext cx="2356675" cy="6854040"/>
            <a:chOff x="6627813" y="194833"/>
            <a:chExt cx="1952625" cy="5678918"/>
          </a:xfrm>
          <a:solidFill>
            <a:schemeClr val="tx2">
              <a:lumMod val="75000"/>
              <a:alpha val="70000"/>
            </a:schemeClr>
          </a:solidFill>
        </p:grpSpPr>
        <p:sp>
          <p:nvSpPr>
            <p:cNvPr id="27"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txBody>
            <a:bodyPr/>
            <a:lstStyle/>
            <a:p>
              <a:endParaRPr lang="en-US" dirty="0">
                <a:latin typeface="Arial" panose="020B0604020202020204" pitchFamily="34" charset="0"/>
              </a:endParaRPr>
            </a:p>
          </p:txBody>
        </p:sp>
        <p:sp>
          <p:nvSpPr>
            <p:cNvPr id="28"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txBody>
            <a:bodyPr/>
            <a:lstStyle/>
            <a:p>
              <a:endParaRPr lang="en-US" dirty="0">
                <a:latin typeface="Arial" panose="020B0604020202020204" pitchFamily="34" charset="0"/>
              </a:endParaRPr>
            </a:p>
          </p:txBody>
        </p:sp>
        <p:sp>
          <p:nvSpPr>
            <p:cNvPr id="29"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txBody>
            <a:bodyPr/>
            <a:lstStyle/>
            <a:p>
              <a:endParaRPr lang="en-US" dirty="0">
                <a:latin typeface="Arial" panose="020B0604020202020204" pitchFamily="34" charset="0"/>
              </a:endParaRPr>
            </a:p>
          </p:txBody>
        </p:sp>
        <p:sp>
          <p:nvSpPr>
            <p:cNvPr id="30"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txBody>
            <a:bodyPr/>
            <a:lstStyle/>
            <a:p>
              <a:endParaRPr lang="en-US" dirty="0">
                <a:latin typeface="Arial" panose="020B0604020202020204" pitchFamily="34" charset="0"/>
              </a:endParaRPr>
            </a:p>
          </p:txBody>
        </p:sp>
        <p:sp>
          <p:nvSpPr>
            <p:cNvPr id="31"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txBody>
            <a:bodyPr/>
            <a:lstStyle/>
            <a:p>
              <a:endParaRPr lang="en-US" dirty="0">
                <a:latin typeface="Arial" panose="020B0604020202020204" pitchFamily="34" charset="0"/>
              </a:endParaRPr>
            </a:p>
          </p:txBody>
        </p:sp>
        <p:sp>
          <p:nvSpPr>
            <p:cNvPr id="32"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txBody>
            <a:bodyPr/>
            <a:lstStyle/>
            <a:p>
              <a:endParaRPr lang="en-US" dirty="0">
                <a:latin typeface="Arial" panose="020B0604020202020204" pitchFamily="34" charset="0"/>
              </a:endParaRPr>
            </a:p>
          </p:txBody>
        </p:sp>
        <p:sp>
          <p:nvSpPr>
            <p:cNvPr id="33"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txBody>
            <a:bodyPr/>
            <a:lstStyle/>
            <a:p>
              <a:endParaRPr lang="en-US" dirty="0">
                <a:latin typeface="Arial" panose="020B0604020202020204" pitchFamily="34" charset="0"/>
              </a:endParaRPr>
            </a:p>
          </p:txBody>
        </p:sp>
        <p:sp>
          <p:nvSpPr>
            <p:cNvPr id="34"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txBody>
            <a:bodyPr/>
            <a:lstStyle/>
            <a:p>
              <a:endParaRPr lang="en-US" dirty="0">
                <a:latin typeface="Arial" panose="020B0604020202020204" pitchFamily="34" charset="0"/>
              </a:endParaRPr>
            </a:p>
          </p:txBody>
        </p:sp>
        <p:sp>
          <p:nvSpPr>
            <p:cNvPr id="35"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txBody>
            <a:bodyPr/>
            <a:lstStyle/>
            <a:p>
              <a:endParaRPr lang="en-US" dirty="0">
                <a:latin typeface="Arial" panose="020B0604020202020204" pitchFamily="34" charset="0"/>
              </a:endParaRPr>
            </a:p>
          </p:txBody>
        </p:sp>
        <p:sp>
          <p:nvSpPr>
            <p:cNvPr id="36"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txBody>
            <a:bodyPr/>
            <a:lstStyle/>
            <a:p>
              <a:endParaRPr lang="en-US" dirty="0">
                <a:latin typeface="Arial" panose="020B0604020202020204" pitchFamily="34" charset="0"/>
              </a:endParaRPr>
            </a:p>
          </p:txBody>
        </p:sp>
        <p:sp>
          <p:nvSpPr>
            <p:cNvPr id="37"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txBody>
            <a:bodyPr/>
            <a:lstStyle/>
            <a:p>
              <a:endParaRPr lang="en-US" dirty="0">
                <a:latin typeface="Arial" panose="020B0604020202020204" pitchFamily="34" charset="0"/>
              </a:endParaRPr>
            </a:p>
          </p:txBody>
        </p:sp>
        <p:sp>
          <p:nvSpPr>
            <p:cNvPr id="38"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txBody>
            <a:bodyPr/>
            <a:lstStyle/>
            <a:p>
              <a:endParaRPr lang="en-US" dirty="0">
                <a:latin typeface="Arial" panose="020B0604020202020204" pitchFamily="34" charset="0"/>
              </a:endParaRPr>
            </a:p>
          </p:txBody>
        </p:sp>
      </p:grpSp>
      <p:sp>
        <p:nvSpPr>
          <p:cNvPr id="40" name="Freeform 11"/>
          <p:cNvSpPr>
            <a:spLocks noGrp="1" noRot="1" noChangeAspect="1" noMove="1" noResize="1" noEditPoints="1" noAdjustHandles="1" noChangeArrowheads="1" noChangeShapeType="1" noTextEdit="1"/>
          </p:cNvSpPr>
          <p:nvPr/>
        </p:nvSpPr>
        <p:spPr bwMode="auto">
          <a:xfrm flipV="1">
            <a:off x="-159" y="3411452"/>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1" fmla="*/ 6839 w 6883"/>
              <a:gd name="connsiteY0-2" fmla="*/ 4885 h 10168"/>
              <a:gd name="connsiteX1-3" fmla="*/ 5405 w 6883"/>
              <a:gd name="connsiteY1-4" fmla="*/ 357 h 10168"/>
              <a:gd name="connsiteX2-5" fmla="*/ 5373 w 6883"/>
              <a:gd name="connsiteY2-6" fmla="*/ 262 h 10168"/>
              <a:gd name="connsiteX3-7" fmla="*/ 5284 w 6883"/>
              <a:gd name="connsiteY3-8" fmla="*/ 168 h 10168"/>
              <a:gd name="connsiteX4-9" fmla="*/ 4716 w 6883"/>
              <a:gd name="connsiteY4-10" fmla="*/ 168 h 10168"/>
              <a:gd name="connsiteX5-11" fmla="*/ 50 w 6883"/>
              <a:gd name="connsiteY5-12" fmla="*/ 0 h 10168"/>
              <a:gd name="connsiteX6-13" fmla="*/ 1 w 6883"/>
              <a:gd name="connsiteY6-14" fmla="*/ 9964 h 10168"/>
              <a:gd name="connsiteX7-15" fmla="*/ 4716 w 6883"/>
              <a:gd name="connsiteY7-16" fmla="*/ 10168 h 10168"/>
              <a:gd name="connsiteX8-17" fmla="*/ 5284 w 6883"/>
              <a:gd name="connsiteY8-18" fmla="*/ 10168 h 10168"/>
              <a:gd name="connsiteX9-19" fmla="*/ 5373 w 6883"/>
              <a:gd name="connsiteY9-20" fmla="*/ 10074 h 10168"/>
              <a:gd name="connsiteX10-21" fmla="*/ 5405 w 6883"/>
              <a:gd name="connsiteY10-22" fmla="*/ 9979 h 10168"/>
              <a:gd name="connsiteX11-23" fmla="*/ 6839 w 6883"/>
              <a:gd name="connsiteY11-24" fmla="*/ 5451 h 10168"/>
              <a:gd name="connsiteX12-25" fmla="*/ 6839 w 6883"/>
              <a:gd name="connsiteY12-26" fmla="*/ 4885 h 1016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dirty="0">
              <a:latin typeface="Arial" panose="020B0604020202020204" pitchFamily="34" charset="0"/>
            </a:endParaRPr>
          </a:p>
        </p:txBody>
      </p:sp>
      <p:sp>
        <p:nvSpPr>
          <p:cNvPr id="3" name="Chỗ dành sẵn cho Nội dung 2"/>
          <p:cNvSpPr>
            <a:spLocks noGrp="1"/>
          </p:cNvSpPr>
          <p:nvPr>
            <p:ph idx="1"/>
          </p:nvPr>
        </p:nvSpPr>
        <p:spPr>
          <a:xfrm>
            <a:off x="3373062" y="2046005"/>
            <a:ext cx="8268647" cy="4111136"/>
          </a:xfrm>
        </p:spPr>
        <p:txBody>
          <a:bodyPr>
            <a:noAutofit/>
          </a:bodyPr>
          <a:lstStyle/>
          <a:p>
            <a:pPr marL="342900" lvl="0" indent="-342900">
              <a:lnSpc>
                <a:spcPct val="90000"/>
              </a:lnSpc>
              <a:spcBef>
                <a:spcPts val="600"/>
              </a:spcBef>
              <a:spcAft>
                <a:spcPts val="600"/>
              </a:spcAft>
              <a:buFont typeface="Wingdings" panose="05000000000000000000" pitchFamily="2" charset="2"/>
              <a:buChar char=""/>
            </a:pPr>
            <a:r>
              <a:rPr lang="nb-NO" sz="1600" b="1" dirty="0">
                <a:effectLst/>
                <a:latin typeface="Arial" panose="020B0604020202020204" pitchFamily="34" charset="0"/>
                <a:ea typeface="Calibri" panose="020F0502020204030204" pitchFamily="34" charset="0"/>
                <a:cs typeface="Arial" panose="020B0604020202020204" pitchFamily="34" charset="0"/>
              </a:rPr>
              <a:t>Các kết quả đạt được:</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lvl="0">
              <a:lnSpc>
                <a:spcPct val="90000"/>
              </a:lnSpc>
              <a:spcBef>
                <a:spcPts val="600"/>
              </a:spcBef>
              <a:spcAft>
                <a:spcPts val="600"/>
              </a:spcAft>
              <a:buFont typeface="Symbol" panose="05050102010706020507" pitchFamily="18" charset="2"/>
              <a:buChar char=""/>
            </a:pPr>
            <a:r>
              <a:rPr lang="nb-NO" sz="1600" dirty="0">
                <a:latin typeface="Arial" panose="020B0604020202020204" pitchFamily="34" charset="0"/>
                <a:ea typeface="Calibri" panose="020F0502020204030204" pitchFamily="34" charset="0"/>
                <a:cs typeface="Arial" panose="020B0604020202020204" pitchFamily="34" charset="0"/>
              </a:rPr>
              <a:t>Xây dựng thành công website.</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lvl="0">
              <a:lnSpc>
                <a:spcPct val="90000"/>
              </a:lnSpc>
              <a:spcBef>
                <a:spcPts val="600"/>
              </a:spcBef>
              <a:spcAft>
                <a:spcPts val="600"/>
              </a:spcAft>
              <a:buFont typeface="Symbol" panose="05050102010706020507" pitchFamily="18" charset="2"/>
              <a:buChar char=""/>
            </a:pPr>
            <a:r>
              <a:rPr lang="nb-NO" sz="1600" dirty="0">
                <a:latin typeface="Arial" panose="020B0604020202020204" pitchFamily="34" charset="0"/>
                <a:ea typeface="Calibri" panose="020F0502020204030204" pitchFamily="34" charset="0"/>
                <a:cs typeface="Arial" panose="020B0604020202020204" pitchFamily="34" charset="0"/>
              </a:rPr>
              <a:t>Tích luỹ kỹ năng thực hành.</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lvl="0">
              <a:lnSpc>
                <a:spcPct val="90000"/>
              </a:lnSpc>
              <a:spcBef>
                <a:spcPts val="600"/>
              </a:spcBef>
              <a:spcAft>
                <a:spcPts val="600"/>
              </a:spcAft>
              <a:buFont typeface="Symbol" panose="05050102010706020507" pitchFamily="18" charset="2"/>
              <a:buChar char=""/>
            </a:pPr>
            <a:r>
              <a:rPr lang="nb-NO" sz="1600" dirty="0">
                <a:latin typeface="Arial" panose="020B0604020202020204" pitchFamily="34" charset="0"/>
                <a:ea typeface="Calibri" panose="020F0502020204030204" pitchFamily="34" charset="0"/>
                <a:cs typeface="Arial" panose="020B0604020202020204" pitchFamily="34" charset="0"/>
              </a:rPr>
              <a:t>Áp dụng kiến thức lý thuyết vào thực tế.</a:t>
            </a:r>
            <a:endParaRPr lang="nb-NO" sz="1600" dirty="0">
              <a:latin typeface="Arial" panose="020B0604020202020204" pitchFamily="34" charset="0"/>
              <a:ea typeface="Calibri" panose="020F0502020204030204" pitchFamily="34" charset="0"/>
              <a:cs typeface="Arial" panose="020B0604020202020204" pitchFamily="34" charset="0"/>
            </a:endParaRPr>
          </a:p>
          <a:p>
            <a:pPr lvl="0">
              <a:lnSpc>
                <a:spcPct val="90000"/>
              </a:lnSpc>
              <a:spcBef>
                <a:spcPts val="600"/>
              </a:spcBef>
              <a:spcAft>
                <a:spcPts val="600"/>
              </a:spcAft>
              <a:buFont typeface="Symbol" panose="05050102010706020507" pitchFamily="18" charset="2"/>
              <a:buChar char=""/>
            </a:pPr>
            <a:r>
              <a:rPr lang="en-US" sz="1600" dirty="0">
                <a:latin typeface="Arial" panose="020B0604020202020204" pitchFamily="34" charset="0"/>
                <a:ea typeface="Calibri" panose="020F0502020204030204" pitchFamily="34" charset="0"/>
                <a:cs typeface="Arial" panose="020B0604020202020204" pitchFamily="34" charset="0"/>
              </a:rPr>
              <a:t>Hoàn </a:t>
            </a:r>
            <a:r>
              <a:rPr lang="en-US" sz="1600" dirty="0" err="1">
                <a:latin typeface="Arial" panose="020B0604020202020204" pitchFamily="34" charset="0"/>
                <a:ea typeface="Calibri" panose="020F0502020204030204" pitchFamily="34" charset="0"/>
                <a:cs typeface="Arial" panose="020B0604020202020204" pitchFamily="34" charset="0"/>
              </a:rPr>
              <a:t>thiện</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kỹ</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năng</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giao</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tiếp</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và</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làm</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việc</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với</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các</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bên</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liên</a:t>
            </a:r>
            <a:r>
              <a:rPr lang="en-US" sz="1600" dirty="0">
                <a:latin typeface="Arial" panose="020B0604020202020204" pitchFamily="34" charset="0"/>
                <a:ea typeface="Calibri" panose="020F0502020204030204" pitchFamily="34" charset="0"/>
                <a:cs typeface="Arial" panose="020B0604020202020204" pitchFamily="34" charset="0"/>
              </a:rPr>
              <a:t> </a:t>
            </a:r>
            <a:r>
              <a:rPr lang="en-US" sz="1600" dirty="0" err="1">
                <a:latin typeface="Arial" panose="020B0604020202020204" pitchFamily="34" charset="0"/>
                <a:ea typeface="Calibri" panose="020F0502020204030204" pitchFamily="34" charset="0"/>
                <a:cs typeface="Arial" panose="020B0604020202020204" pitchFamily="34" charset="0"/>
              </a:rPr>
              <a:t>quan</a:t>
            </a:r>
            <a:r>
              <a:rPr lang="en-US" sz="1600" dirty="0">
                <a:latin typeface="Arial" panose="020B0604020202020204" pitchFamily="34" charset="0"/>
                <a:ea typeface="Calibri" panose="020F0502020204030204" pitchFamily="34" charset="0"/>
                <a:cs typeface="Arial" panose="020B0604020202020204" pitchFamily="34" charset="0"/>
              </a:rPr>
              <a:t>.</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90000"/>
              </a:lnSpc>
              <a:spcBef>
                <a:spcPts val="600"/>
              </a:spcBef>
              <a:spcAft>
                <a:spcPts val="600"/>
              </a:spcAft>
              <a:buFont typeface="Wingdings" panose="05000000000000000000" pitchFamily="2" charset="2"/>
              <a:buChar char=""/>
            </a:pPr>
            <a:r>
              <a:rPr lang="nb-NO" sz="1600" b="1" dirty="0">
                <a:effectLst/>
                <a:latin typeface="Arial" panose="020B0604020202020204" pitchFamily="34" charset="0"/>
                <a:ea typeface="Calibri" panose="020F0502020204030204" pitchFamily="34" charset="0"/>
                <a:cs typeface="Arial" panose="020B0604020202020204" pitchFamily="34" charset="0"/>
              </a:rPr>
              <a:t>Một số hạn chế:</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90000"/>
              </a:lnSpc>
              <a:spcBef>
                <a:spcPts val="600"/>
              </a:spcBef>
              <a:spcAft>
                <a:spcPts val="600"/>
              </a:spcAft>
              <a:buFont typeface="Symbol" panose="05050102010706020507" pitchFamily="18" charset="2"/>
              <a:buChar char=""/>
            </a:pPr>
            <a:r>
              <a:rPr lang="nb-NO" sz="1600" dirty="0">
                <a:effectLst/>
                <a:latin typeface="Arial" panose="020B0604020202020204" pitchFamily="34" charset="0"/>
                <a:ea typeface="Calibri" panose="020F0502020204030204" pitchFamily="34" charset="0"/>
                <a:cs typeface="Arial" panose="020B0604020202020204" pitchFamily="34" charset="0"/>
              </a:rPr>
              <a:t>Do còn thiếu nguồn lực, kinh nghiệm và một số kiến thức còn chưa được tốt vì thế mà phạm vi đồ án chưa lớn, chức năng hạn chế.</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90000"/>
              </a:lnSpc>
              <a:spcBef>
                <a:spcPts val="600"/>
              </a:spcBef>
              <a:spcAft>
                <a:spcPts val="600"/>
              </a:spcAft>
              <a:buFont typeface="Wingdings" panose="05000000000000000000" pitchFamily="2" charset="2"/>
              <a:buChar char=""/>
            </a:pPr>
            <a:r>
              <a:rPr lang="nb-NO" sz="1600" b="1" dirty="0">
                <a:effectLst/>
                <a:latin typeface="Arial" panose="020B0604020202020204" pitchFamily="34" charset="0"/>
                <a:ea typeface="Calibri" panose="020F0502020204030204" pitchFamily="34" charset="0"/>
                <a:cs typeface="Arial" panose="020B0604020202020204" pitchFamily="34" charset="0"/>
              </a:rPr>
              <a:t>Hướng phát triển:</a:t>
            </a:r>
            <a:endParaRPr lang="en-US" sz="16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90000"/>
              </a:lnSpc>
              <a:spcBef>
                <a:spcPts val="600"/>
              </a:spcBef>
              <a:spcAft>
                <a:spcPts val="600"/>
              </a:spcAft>
              <a:buFont typeface="Symbol" panose="05050102010706020507" pitchFamily="18" charset="2"/>
              <a:buChar char=""/>
            </a:pPr>
            <a:r>
              <a:rPr lang="nb-NO" sz="1600" dirty="0">
                <a:effectLst/>
                <a:latin typeface="Arial" panose="020B0604020202020204" pitchFamily="34" charset="0"/>
                <a:ea typeface="Calibri" panose="020F0502020204030204" pitchFamily="34" charset="0"/>
                <a:cs typeface="Arial" panose="020B0604020202020204" pitchFamily="34" charset="0"/>
              </a:rPr>
              <a:t>Cải tiến hiệu suất, áp dụng thêm công nghệ nhằm cải thiện trải nghiệm người dùng.</a:t>
            </a:r>
            <a:endParaRPr lang="nb-NO" sz="16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90000"/>
              </a:lnSpc>
              <a:spcBef>
                <a:spcPts val="600"/>
              </a:spcBef>
              <a:spcAft>
                <a:spcPts val="600"/>
              </a:spcAft>
              <a:buFont typeface="Symbol" panose="05050102010706020507" pitchFamily="18" charset="2"/>
              <a:buChar char=""/>
            </a:pPr>
            <a:r>
              <a:rPr lang="nb-NO" sz="1600" dirty="0">
                <a:latin typeface="Arial" panose="020B0604020202020204" pitchFamily="34" charset="0"/>
                <a:ea typeface="Calibri" panose="020F0502020204030204" pitchFamily="34" charset="0"/>
                <a:cs typeface="Arial" panose="020B0604020202020204" pitchFamily="34" charset="0"/>
              </a:rPr>
              <a:t>Tính hợp và ứng dụng AI trong công việc và hỗ trợ đưa ra các đánh giá và quyết định tốt nhất.</a:t>
            </a:r>
            <a:endParaRPr lang="en-US" sz="16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9" name="Group 8"/>
          <p:cNvGrpSpPr>
            <a:grpSpLocks noGrp="1" noRot="1" noChangeAspect="1" noMove="1" noResize="1" noUngrp="1"/>
          </p:cNvGrpSpPr>
          <p:nvPr/>
        </p:nvGrpSpPr>
        <p:grpSpPr>
          <a:xfrm>
            <a:off x="9" y="228600"/>
            <a:ext cx="2851523" cy="6638625"/>
            <a:chOff x="2487613" y="285750"/>
            <a:chExt cx="2428875" cy="5654676"/>
          </a:xfrm>
        </p:grpSpPr>
        <p:sp>
          <p:nvSpPr>
            <p:cNvPr id="76"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77"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78"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79"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80"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81"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82"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83"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84"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85"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86"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sp>
          <p:nvSpPr>
            <p:cNvPr id="87"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dirty="0">
                <a:latin typeface="Arial" panose="020B0604020202020204" pitchFamily="34" charset="0"/>
              </a:endParaRPr>
            </a:p>
          </p:txBody>
        </p:sp>
      </p:grpSp>
      <p:grpSp>
        <p:nvGrpSpPr>
          <p:cNvPr id="23" name="Group 22"/>
          <p:cNvGrpSpPr>
            <a:grpSpLocks noGrp="1" noRot="1" noChangeAspect="1" noMove="1" noResize="1" noUngrp="1"/>
          </p:cNvGrpSpPr>
          <p:nvPr/>
        </p:nvGrpSpPr>
        <p:grpSpPr>
          <a:xfrm>
            <a:off x="27224" y="-786"/>
            <a:ext cx="2356675" cy="6854040"/>
            <a:chOff x="6627813" y="194833"/>
            <a:chExt cx="1952625" cy="5678918"/>
          </a:xfrm>
        </p:grpSpPr>
        <p:sp>
          <p:nvSpPr>
            <p:cNvPr id="88"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89"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0"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1"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2"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3"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4"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5"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6"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7"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8"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dirty="0">
                <a:latin typeface="Arial" panose="020B0604020202020204" pitchFamily="34" charset="0"/>
              </a:endParaRPr>
            </a:p>
          </p:txBody>
        </p:sp>
        <p:sp>
          <p:nvSpPr>
            <p:cNvPr id="99"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dirty="0">
                <a:latin typeface="Arial" panose="020B0604020202020204" pitchFamily="34" charset="0"/>
              </a:endParaRPr>
            </a:p>
          </p:txBody>
        </p:sp>
      </p:grpSp>
      <p:sp>
        <p:nvSpPr>
          <p:cNvPr id="37" name="Rectangle 36"/>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sp>
        <p:nvSpPr>
          <p:cNvPr id="39" name="Freeform 6"/>
          <p:cNvSpPr>
            <a:spLocks noGrp="1" noRot="1" noChangeAspect="1" noMove="1" noResize="1" noEditPoints="1" noAdjustHandles="1" noChangeArrowheads="1" noChangeShapeType="1" noTextEdit="1"/>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dirty="0">
              <a:latin typeface="Arial" panose="020B0604020202020204" pitchFamily="34" charset="0"/>
            </a:endParaRPr>
          </a:p>
        </p:txBody>
      </p:sp>
      <p:sp useBgFill="1">
        <p:nvSpPr>
          <p:cNvPr id="41" name="Rectangle 40"/>
          <p:cNvSpPr>
            <a:spLocks noGrp="1" noRot="1" noChangeAspect="1" noMove="1" noResize="1" noEditPoints="1" noAdjustHandles="1" noChangeArrowheads="1" noChangeShapeType="1" noTextEdit="1"/>
          </p:cNvSpPr>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43" name="Rectangle 42"/>
          <p:cNvSpPr>
            <a:spLocks noGrp="1" noRot="1" noChangeAspect="1" noMove="1" noResize="1" noEditPoints="1" noAdjustHandles="1" noChangeArrowheads="1" noChangeShapeType="1" noTextEdit="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latin typeface="Arial" panose="020B0604020202020204" pitchFamily="34" charset="0"/>
            </a:endParaRPr>
          </a:p>
        </p:txBody>
      </p:sp>
      <p:grpSp>
        <p:nvGrpSpPr>
          <p:cNvPr id="100" name="Group 99"/>
          <p:cNvGrpSpPr>
            <a:grpSpLocks noGrp="1" noRot="1" noChangeAspect="1" noMove="1" noResize="1" noUngrp="1"/>
          </p:cNvGrpSpPr>
          <p:nvPr/>
        </p:nvGrpSpPr>
        <p:grpSpPr>
          <a:xfrm flipH="1">
            <a:off x="6009967" y="0"/>
            <a:ext cx="6176982" cy="6853245"/>
            <a:chOff x="2487613" y="285750"/>
            <a:chExt cx="2428876" cy="5654676"/>
          </a:xfrm>
          <a:solidFill>
            <a:schemeClr val="bg2">
              <a:lumMod val="90000"/>
            </a:schemeClr>
          </a:solidFill>
        </p:grpSpPr>
        <p:sp>
          <p:nvSpPr>
            <p:cNvPr id="101"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dirty="0">
                <a:latin typeface="Arial" panose="020B0604020202020204" pitchFamily="34" charset="0"/>
              </a:endParaRPr>
            </a:p>
          </p:txBody>
        </p:sp>
        <p:sp>
          <p:nvSpPr>
            <p:cNvPr id="102"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dirty="0">
                <a:latin typeface="Arial" panose="020B0604020202020204" pitchFamily="34" charset="0"/>
              </a:endParaRPr>
            </a:p>
          </p:txBody>
        </p:sp>
        <p:sp>
          <p:nvSpPr>
            <p:cNvPr id="103"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dirty="0">
                <a:latin typeface="Arial" panose="020B0604020202020204" pitchFamily="34" charset="0"/>
              </a:endParaRPr>
            </a:p>
          </p:txBody>
        </p:sp>
        <p:sp>
          <p:nvSpPr>
            <p:cNvPr id="104"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dirty="0">
                <a:latin typeface="Arial" panose="020B0604020202020204" pitchFamily="34" charset="0"/>
              </a:endParaRPr>
            </a:p>
          </p:txBody>
        </p:sp>
        <p:sp>
          <p:nvSpPr>
            <p:cNvPr id="105"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dirty="0">
                <a:latin typeface="Arial" panose="020B0604020202020204" pitchFamily="34" charset="0"/>
              </a:endParaRPr>
            </a:p>
          </p:txBody>
        </p:sp>
        <p:sp>
          <p:nvSpPr>
            <p:cNvPr id="106"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dirty="0">
                <a:latin typeface="Arial" panose="020B0604020202020204" pitchFamily="34" charset="0"/>
              </a:endParaRPr>
            </a:p>
          </p:txBody>
        </p:sp>
        <p:sp>
          <p:nvSpPr>
            <p:cNvPr id="107"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dirty="0">
                <a:latin typeface="Arial" panose="020B0604020202020204" pitchFamily="34" charset="0"/>
              </a:endParaRPr>
            </a:p>
          </p:txBody>
        </p:sp>
        <p:sp>
          <p:nvSpPr>
            <p:cNvPr id="108"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dirty="0">
                <a:latin typeface="Arial" panose="020B0604020202020204" pitchFamily="34" charset="0"/>
              </a:endParaRPr>
            </a:p>
          </p:txBody>
        </p:sp>
        <p:sp>
          <p:nvSpPr>
            <p:cNvPr id="109" name="Freeform 19"/>
            <p:cNvSpPr/>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dirty="0">
                <a:latin typeface="Arial" panose="020B0604020202020204" pitchFamily="34" charset="0"/>
              </a:endParaRPr>
            </a:p>
          </p:txBody>
        </p:sp>
        <p:sp>
          <p:nvSpPr>
            <p:cNvPr id="110"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dirty="0">
                <a:latin typeface="Arial" panose="020B0604020202020204" pitchFamily="34" charset="0"/>
              </a:endParaRPr>
            </a:p>
          </p:txBody>
        </p:sp>
        <p:sp>
          <p:nvSpPr>
            <p:cNvPr id="111"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dirty="0">
                <a:latin typeface="Arial" panose="020B0604020202020204" pitchFamily="34" charset="0"/>
              </a:endParaRPr>
            </a:p>
          </p:txBody>
        </p:sp>
        <p:sp>
          <p:nvSpPr>
            <p:cNvPr id="57"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dirty="0">
                <a:latin typeface="Arial" panose="020B0604020202020204" pitchFamily="34" charset="0"/>
              </a:endParaRPr>
            </a:p>
          </p:txBody>
        </p:sp>
      </p:grpSp>
      <p:sp>
        <p:nvSpPr>
          <p:cNvPr id="4" name="Title 3"/>
          <p:cNvSpPr>
            <a:spLocks noGrp="1"/>
          </p:cNvSpPr>
          <p:nvPr>
            <p:ph type="title"/>
          </p:nvPr>
        </p:nvSpPr>
        <p:spPr>
          <a:xfrm>
            <a:off x="1304103" y="1318591"/>
            <a:ext cx="5800929" cy="4220820"/>
          </a:xfrm>
        </p:spPr>
        <p:txBody>
          <a:bodyPr vert="horz" lIns="91440" tIns="45720" rIns="91440" bIns="45720" rtlCol="0" anchor="ctr">
            <a:normAutofit/>
          </a:bodyPr>
          <a:lstStyle/>
          <a:p>
            <a:pPr algn="r"/>
            <a:r>
              <a:rPr lang="en-US" sz="6600">
                <a:solidFill>
                  <a:schemeClr val="tx2">
                    <a:lumMod val="75000"/>
                  </a:schemeClr>
                </a:solidFill>
              </a:rPr>
              <a:t>THANK FOR WATCHING !</a:t>
            </a:r>
            <a:endParaRPr lang="en-US" sz="6600">
              <a:solidFill>
                <a:schemeClr val="tx2">
                  <a:lumMod val="75000"/>
                </a:schemeClr>
              </a:solidFill>
            </a:endParaRPr>
          </a:p>
        </p:txBody>
      </p:sp>
      <p:cxnSp>
        <p:nvCxnSpPr>
          <p:cNvPr id="112" name="Straight Connector 111"/>
          <p:cNvCxnSpPr>
            <a:cxnSpLocks noGrp="1" noRot="1" noChangeAspect="1" noMove="1" noResize="1" noEditPoints="1" noAdjustHandles="1" noChangeArrowheads="1" noChangeShapeType="1"/>
          </p:cNvCxnSpPr>
          <p:nvPr/>
        </p:nvCxnSpPr>
        <p:spPr>
          <a:xfrm>
            <a:off x="7537196" y="1871831"/>
            <a:ext cx="0" cy="320040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0</TotalTime>
  <Words>2090</Words>
  <Application>WPS Slides</Application>
  <PresentationFormat>Widescreen</PresentationFormat>
  <Paragraphs>74</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Wingdings 3</vt:lpstr>
      <vt:lpstr>Arial</vt:lpstr>
      <vt:lpstr>等线 Light</vt:lpstr>
      <vt:lpstr>Calibri</vt:lpstr>
      <vt:lpstr>Symbol</vt:lpstr>
      <vt:lpstr>Microsoft YaHei</vt:lpstr>
      <vt:lpstr>Arial Unicode MS</vt:lpstr>
      <vt:lpstr>Wisp</vt:lpstr>
      <vt:lpstr>Báo Cáo Đồ Án Tốt Nghiệp</vt:lpstr>
      <vt:lpstr>Nội dung :</vt:lpstr>
      <vt:lpstr>Chương 1. Khảo sát hệ thống</vt:lpstr>
      <vt:lpstr>Chương 1. Khảo sát hệ thống</vt:lpstr>
      <vt:lpstr>Chương 2. Phân tích thiết kế hệ thống </vt:lpstr>
      <vt:lpstr>PowerPoint 演示文稿</vt:lpstr>
      <vt:lpstr>Biểu đồ trình tự - Edit Account</vt:lpstr>
      <vt:lpstr>PowerPoint 演示文稿</vt:lpstr>
      <vt:lpstr>PowerPoint 演示文稿</vt:lpstr>
      <vt:lpstr>Chương 3. Xây dựng chương trình</vt:lpstr>
      <vt:lpstr>PowerPoint 演示文稿</vt:lpstr>
      <vt:lpstr>PowerPoint 演示文稿</vt:lpstr>
      <vt:lpstr>PowerPoint 演示文稿</vt:lpstr>
      <vt:lpstr>PowerPoint 演示文稿</vt:lpstr>
      <vt:lpstr>KẾT LUẬN</vt:lpstr>
      <vt:lpstr>THANK FOR WATCHING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Quyết Ngoại</cp:lastModifiedBy>
  <cp:revision>108</cp:revision>
  <dcterms:created xsi:type="dcterms:W3CDTF">2024-04-02T04:29:00Z</dcterms:created>
  <dcterms:modified xsi:type="dcterms:W3CDTF">2025-04-12T00:42:01Z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2024-05-03T01:28:00Z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cb2e1e89-7620-43a0-b5ba-b95ab8469c40</vt:lpwstr>
  </property>
  <property fmtid="{D5CDD505-2E9C-101B-9397-08002B2CF9AE}" pid="7" name="MSIP_Label_defa4170-0d19-0005-0004-bc88714345d2_ActionId">
    <vt:lpwstr>7c99af18-e1f9-4980-9349-6e4e2a675bce</vt:lpwstr>
  </property>
  <property fmtid="{D5CDD505-2E9C-101B-9397-08002B2CF9AE}" pid="8" name="MSIP_Label_defa4170-0d19-0005-0004-bc88714345d2_ContentBits">
    <vt:lpwstr>0</vt:lpwstr>
  </property>
  <property fmtid="{D5CDD505-2E9C-101B-9397-08002B2CF9AE}" pid="9" name="ICV">
    <vt:lpwstr>3B2945C9184E43CDA559E56B23422A29_12</vt:lpwstr>
  </property>
  <property fmtid="{D5CDD505-2E9C-101B-9397-08002B2CF9AE}" pid="10" name="KSOProductBuildVer">
    <vt:lpwstr>1033-12.2.0.20795</vt:lpwstr>
  </property>
</Properties>
</file>